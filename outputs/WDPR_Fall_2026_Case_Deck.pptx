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7.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8.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9.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0.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Attendance</c:v>
                </c:pt>
              </c:strCache>
            </c:strRef>
          </c:tx>
          <c:spPr>
            <a:solidFill>
              <a:srgbClr val="1F5FBF"/>
            </a:solidFill>
            <a:ln w="31750" cap="flat">
              <a:solidFill>
                <a:srgbClr val="1F5FBF"/>
              </a:solidFill>
              <a:prstDash val="solid"/>
              <a:round/>
            </a:ln>
            <a:effectLst/>
          </c:spPr>
          <c:invertIfNegative val="0"/>
          <c:dLbls>
            <c:numFmt formatCode="#,##0" sourceLinked="0"/>
            <c:txPr>
              <a:bodyPr/>
              <a:lstStyle/>
              <a:p>
                <a:pPr>
                  <a:defRPr b="0" i="0" strike="noStrike" sz="900" u="none">
                    <a:solidFill>
                      <a:srgbClr val="1B1B1B"/>
                    </a:solidFill>
                    <a:latin typeface="Calibri"/>
                  </a:defRPr>
                </a:pPr>
              </a:p>
            </c:txPr>
            <c:dLblPos val="t"/>
            <c:showLegendKey val="0"/>
            <c:showVal val="1"/>
            <c:showCatName val="0"/>
            <c:showSerName val="0"/>
            <c:showPercent val="0"/>
            <c:showBubbleSize val="0"/>
            <c:showLeaderLines val="0"/>
          </c:dLbls>
          <c:marker>
            <c:symbol val="circle"/>
            <c:size val="7"/>
            <c:spPr>
              <a:solidFill>
                <a:srgbClr val="1F5FBF"/>
              </a:solidFill>
              <a:ln w="9525" cap="flat">
                <a:solidFill>
                  <a:srgbClr val="1F5FBF"/>
                </a:solidFill>
                <a:prstDash val="solid"/>
                <a:round/>
              </a:ln>
              <a:effectLst/>
            </c:spPr>
          </c:marker>
          <c:cat>
            <c:multiLvlStrRef>
              <c:f>Sheet1!$A$2:$A$7</c:f>
              <c:multiLvlStrCache>
                <c:ptCount val="6"/>
                <c:lvl>
                  <c:pt idx="0">
                    <c:v>2021</c:v>
                  </c:pt>
                  <c:pt idx="1">
                    <c:v>2022</c:v>
                  </c:pt>
                  <c:pt idx="2">
                    <c:v>2023</c:v>
                  </c:pt>
                  <c:pt idx="3">
                    <c:v>2024</c:v>
                  </c:pt>
                  <c:pt idx="4">
                    <c:v>2025</c:v>
                  </c:pt>
                  <c:pt idx="5">
                    <c:v>2026 base</c:v>
                  </c:pt>
                </c:lvl>
              </c:multiLvlStrCache>
            </c:multiLvlStrRef>
          </c:cat>
          <c:val>
            <c:numRef>
              <c:f>Sheet1!$B$2:$B$7</c:f>
              <c:numCache>
                <c:formatCode>General</c:formatCode>
                <c:ptCount val="6"/>
                <c:pt idx="0">
                  <c:v>49000</c:v>
                </c:pt>
                <c:pt idx="1">
                  <c:v>48500</c:v>
                </c:pt>
                <c:pt idx="2">
                  <c:v>50000</c:v>
                </c:pt>
                <c:pt idx="3">
                  <c:v>53500</c:v>
                </c:pt>
                <c:pt idx="4">
                  <c:v>56000</c:v>
                </c:pt>
                <c:pt idx="5">
                  <c:v>58565</c:v>
                </c:pt>
              </c:numCache>
            </c:numRef>
          </c:val>
          <c:smooth val="0"/>
        </c:ser>
        <c:dLbls>
          <c:numFmt formatCode="#,##0" sourceLinked="0"/>
          <c:txPr>
            <a:bodyPr/>
            <a:lstStyle/>
            <a:p>
              <a:pPr>
                <a:defRPr b="0" i="0" strike="noStrike" sz="900" u="none">
                  <a:solidFill>
                    <a:srgbClr val="1B1B1B"/>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470"/>
                </a:solidFill>
                <a:latin typeface="Calibri"/>
              </a:defRPr>
            </a:pPr>
            <a:endParaRPr lang="en-US"/>
          </a:p>
        </c:txPr>
        <c:crossAx val="2094734552"/>
        <c:crosses val="autoZero"/>
        <c:auto val="1"/>
        <c:lblAlgn val="ctr"/>
        <c:noMultiLvlLbl val="1"/>
      </c:catAx>
      <c:valAx>
        <c:axId val="2094734552"/>
        <c:scaling>
          <c:orientation val="minMax"/>
          <c:max val="62000"/>
          <c:min val="44000"/>
        </c:scaling>
        <c:delete val="0"/>
        <c:axPos val="l"/>
        <c:majorGridlines>
          <c:spPr>
            <a:ln w="6350" cap="flat">
              <a:solidFill>
                <a:srgbClr val="E6EBF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Capture rate</c:v>
                </c:pt>
              </c:strCache>
            </c:strRef>
          </c:tx>
          <c:spPr>
            <a:solidFill>
              <a:srgbClr val="1F5FBF"/>
            </a:solidFill>
            <a:effectLst/>
          </c:spPr>
          <c:invertIfNegative val="0"/>
          <c:dLbls>
            <c:numFmt formatCode="0.0&quot;%&quot;" sourceLinked="0"/>
            <c:txPr>
              <a:bodyPr/>
              <a:lstStyle/>
              <a:p>
                <a:pPr>
                  <a:defRPr b="0" i="0" strike="noStrike" sz="900" u="none">
                    <a:solidFill>
                      <a:srgbClr val="1B1B1B"/>
                    </a:solidFill>
                    <a:latin typeface="Calibri"/>
                  </a:defRPr>
                </a:pPr>
              </a:p>
            </c:txPr>
            <c:showLegendKey val="0"/>
            <c:showVal val="1"/>
            <c:showCatName val="0"/>
            <c:showSerName val="0"/>
            <c:showPercent val="0"/>
            <c:showBubbleSize val="0"/>
            <c:showLeaderLines val="0"/>
          </c:dLbls>
          <c:cat>
            <c:multiLvlStrRef>
              <c:f>Sheet1!$A$2:$A$3</c:f>
              <c:multiLvlStrCache>
                <c:ptCount val="2"/>
                <c:lvl>
                  <c:pt idx="0">
                    <c:v>Local ring</c:v>
                  </c:pt>
                  <c:pt idx="1">
                    <c:v>Neighboring ring</c:v>
                  </c:pt>
                </c:lvl>
              </c:multiLvlStrCache>
            </c:multiLvlStrRef>
          </c:cat>
          <c:val>
            <c:numRef>
              <c:f>Sheet1!$B$2:$B$3</c:f>
              <c:numCache>
                <c:formatCode>General</c:formatCode>
                <c:ptCount val="2"/>
                <c:pt idx="0">
                  <c:v>7.8</c:v>
                </c:pt>
                <c:pt idx="1">
                  <c:v>2</c:v>
                </c:pt>
              </c:numCache>
            </c:numRef>
          </c:val>
        </c:ser>
        <c:dLbls>
          <c:numFmt formatCode="0.0&quot;%&quot;" sourceLinked="0"/>
          <c:txPr>
            <a:bodyPr/>
            <a:lstStyle/>
            <a:p>
              <a:pPr>
                <a:defRPr b="0" i="0" strike="noStrike" sz="900" u="none">
                  <a:solidFill>
                    <a:srgbClr val="1B1B1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470"/>
                </a:solidFill>
                <a:latin typeface="Calibri"/>
              </a:defRPr>
            </a:pPr>
            <a:endParaRPr lang="en-US"/>
          </a:p>
        </c:txPr>
        <c:crossAx val="2094734552"/>
        <c:crosses val="autoZero"/>
        <c:auto val="1"/>
        <c:lblAlgn val="ctr"/>
        <c:noMultiLvlLbl val="1"/>
      </c:catAx>
      <c:valAx>
        <c:axId val="2094734552"/>
        <c:scaling>
          <c:orientation val="minMax"/>
          <c:max val="10"/>
        </c:scaling>
        <c:delete val="1"/>
        <c:axPos val="l"/>
        <c:majorGridlines>
          <c:spPr>
            <a:ln w="6350" cap="flat">
              <a:solidFill>
                <a:srgbClr val="E6EB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High end</c:v>
                </c:pt>
              </c:strCache>
            </c:strRef>
          </c:tx>
          <c:spPr>
            <a:solidFill>
              <a:srgbClr val="F2B632"/>
            </a:solidFill>
            <a:effectLst/>
          </c:spPr>
          <c:invertIfNegative val="0"/>
          <c:dLbls>
            <c:numFmt formatCode="#,##0" sourceLinked="0"/>
            <c:txPr>
              <a:bodyPr/>
              <a:lstStyle/>
              <a:p>
                <a:pPr>
                  <a:defRPr b="0" i="0" strike="noStrike" sz="900" u="none">
                    <a:solidFill>
                      <a:srgbClr val="1B1B1B"/>
                    </a:solidFill>
                    <a:latin typeface="Calibri"/>
                  </a:defRPr>
                </a:pPr>
              </a:p>
            </c:txPr>
            <c:showLegendKey val="0"/>
            <c:showVal val="1"/>
            <c:showCatName val="0"/>
            <c:showSerName val="0"/>
            <c:showPercent val="0"/>
            <c:showBubbleSize val="0"/>
            <c:showLeaderLines val="0"/>
          </c:dLbls>
          <c:cat>
            <c:multiLvlStrRef>
              <c:f>Sheet1!$A$2:$A$5</c:f>
              <c:multiLvlStrCache>
                <c:ptCount val="4"/>
                <c:lvl>
                  <c:pt idx="0">
                    <c:v>Elasticity</c:v>
                  </c:pt>
                  <c:pt idx="1">
                    <c:v>Awareness funnel</c:v>
                  </c:pt>
                  <c:pt idx="2">
                    <c:v>Bass diffusion</c:v>
                  </c:pt>
                  <c:pt idx="3">
                    <c:v>Capture model</c:v>
                  </c:pt>
                </c:lvl>
              </c:multiLvlStrCache>
            </c:multiLvlStrRef>
          </c:cat>
          <c:val>
            <c:numRef>
              <c:f>Sheet1!$B$2:$B$5</c:f>
              <c:numCache>
                <c:formatCode>General</c:formatCode>
                <c:ptCount val="4"/>
                <c:pt idx="0">
                  <c:v>2688</c:v>
                </c:pt>
                <c:pt idx="1">
                  <c:v>2975</c:v>
                </c:pt>
                <c:pt idx="2">
                  <c:v>1960</c:v>
                </c:pt>
                <c:pt idx="3">
                  <c:v>2698</c:v>
                </c:pt>
              </c:numCache>
            </c:numRef>
          </c:val>
        </c:ser>
        <c:dLbls>
          <c:numFmt formatCode="#,##0" sourceLinked="0"/>
          <c:txPr>
            <a:bodyPr/>
            <a:lstStyle/>
            <a:p>
              <a:pPr>
                <a:defRPr b="0" i="0" strike="noStrike" sz="900" u="none">
                  <a:solidFill>
                    <a:srgbClr val="1B1B1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470"/>
                </a:solidFill>
                <a:latin typeface="Calibri"/>
              </a:defRPr>
            </a:pPr>
            <a:endParaRPr lang="en-US"/>
          </a:p>
        </c:txPr>
        <c:crossAx val="2094734552"/>
        <c:crosses val="autoZero"/>
        <c:auto val="1"/>
        <c:lblAlgn val="ctr"/>
        <c:noMultiLvlLbl val="1"/>
      </c:catAx>
      <c:valAx>
        <c:axId val="2094734552"/>
        <c:scaling>
          <c:orientation val="minMax"/>
          <c:max val="3600"/>
        </c:scaling>
        <c:delete val="0"/>
        <c:axPos val="l"/>
        <c:majorGridlines>
          <c:spPr>
            <a:ln w="6350" cap="flat">
              <a:solidFill>
                <a:srgbClr val="E6EBF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Lift above trend</c:v>
                </c:pt>
              </c:strCache>
            </c:strRef>
          </c:tx>
          <c:spPr>
            <a:solidFill>
              <a:srgbClr val="1F5FBF"/>
            </a:solidFill>
            <a:effectLst/>
          </c:spPr>
          <c:invertIfNegative val="0"/>
          <c:dLbls>
            <c:numFmt formatCode="0.0&quot; pts&quot;" sourceLinked="0"/>
            <c:txPr>
              <a:bodyPr/>
              <a:lstStyle/>
              <a:p>
                <a:pPr>
                  <a:defRPr b="0" i="0" strike="noStrike" sz="900" u="none">
                    <a:solidFill>
                      <a:srgbClr val="1B1B1B"/>
                    </a:solidFill>
                    <a:latin typeface="Calibri"/>
                  </a:defRPr>
                </a:pPr>
              </a:p>
            </c:txPr>
            <c:showLegendKey val="0"/>
            <c:showVal val="1"/>
            <c:showCatName val="0"/>
            <c:showSerName val="0"/>
            <c:showPercent val="0"/>
            <c:showBubbleSize val="0"/>
            <c:showLeaderLines val="0"/>
          </c:dLbls>
          <c:cat>
            <c:multiLvlStrRef>
              <c:f>Sheet1!$A$2:$A$4</c:f>
              <c:multiLvlStrCache>
                <c:ptCount val="3"/>
                <c:lvl>
                  <c:pt idx="0">
                    <c:v>Disneyland 50th (2005)</c:v>
                  </c:pt>
                  <c:pt idx="1">
                    <c:v>Disneyland 60th (2015)</c:v>
                  </c:pt>
                  <c:pt idx="2">
                    <c:v>Musikfest 40th (2023)</c:v>
                  </c:pt>
                </c:lvl>
              </c:multiLvlStrCache>
            </c:multiLvlStrRef>
          </c:cat>
          <c:val>
            <c:numRef>
              <c:f>Sheet1!$B$2:$B$4</c:f>
              <c:numCache>
                <c:formatCode>General</c:formatCode>
                <c:ptCount val="3"/>
                <c:pt idx="0">
                  <c:v>4.3</c:v>
                </c:pt>
                <c:pt idx="1">
                  <c:v>5.5</c:v>
                </c:pt>
                <c:pt idx="2">
                  <c:v>7.3</c:v>
                </c:pt>
              </c:numCache>
            </c:numRef>
          </c:val>
        </c:ser>
        <c:dLbls>
          <c:numFmt formatCode="0.0&quot; pts&quot;" sourceLinked="0"/>
          <c:txPr>
            <a:bodyPr/>
            <a:lstStyle/>
            <a:p>
              <a:pPr>
                <a:defRPr b="0" i="0" strike="noStrike" sz="900" u="none">
                  <a:solidFill>
                    <a:srgbClr val="1B1B1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470"/>
                </a:solidFill>
                <a:latin typeface="Calibri"/>
              </a:defRPr>
            </a:pPr>
            <a:endParaRPr lang="en-US"/>
          </a:p>
        </c:txPr>
        <c:crossAx val="2094734552"/>
        <c:crosses val="autoZero"/>
        <c:auto val="1"/>
        <c:lblAlgn val="ctr"/>
        <c:noMultiLvlLbl val="1"/>
      </c:catAx>
      <c:valAx>
        <c:axId val="2094734552"/>
        <c:scaling>
          <c:orientation val="minMax"/>
          <c:max val="9"/>
        </c:scaling>
        <c:delete val="1"/>
        <c:axPos val="l"/>
        <c:majorGridlines>
          <c:spPr>
            <a:ln w="6350" cap="flat">
              <a:solidFill>
                <a:srgbClr val="E6EB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Incremental guests</c:v>
                </c:pt>
              </c:strCache>
            </c:strRef>
          </c:tx>
          <c:spPr>
            <a:solidFill>
              <a:srgbClr val="F2B632"/>
            </a:solidFill>
            <a:effectLst/>
          </c:spPr>
          <c:invertIfNegative val="0"/>
          <c:dLbls>
            <c:numFmt formatCode="#,##0" sourceLinked="0"/>
            <c:txPr>
              <a:bodyPr/>
              <a:lstStyle/>
              <a:p>
                <a:pPr>
                  <a:defRPr b="0" i="0" strike="noStrike" sz="900" u="none">
                    <a:solidFill>
                      <a:srgbClr val="1B1B1B"/>
                    </a:solidFill>
                    <a:latin typeface="Calibri"/>
                  </a:defRPr>
                </a:pPr>
              </a:p>
            </c:txPr>
            <c:showLegendKey val="0"/>
            <c:showVal val="1"/>
            <c:showCatName val="0"/>
            <c:showSerName val="0"/>
            <c:showPercent val="0"/>
            <c:showBubbleSize val="0"/>
            <c:showLeaderLines val="0"/>
          </c:dLbls>
          <c:cat>
            <c:multiLvlStrRef>
              <c:f>Sheet1!$A$2:$A$6</c:f>
              <c:multiLvlStrCache>
                <c:ptCount val="5"/>
                <c:lvl>
                  <c:pt idx="0">
                    <c:v>1M listeners</c:v>
                  </c:pt>
                  <c:pt idx="1">
                    <c:v>5M</c:v>
                  </c:pt>
                  <c:pt idx="2">
                    <c:v>10M</c:v>
                  </c:pt>
                  <c:pt idx="3">
                    <c:v>20M</c:v>
                  </c:pt>
                  <c:pt idx="4">
                    <c:v>40M</c:v>
                  </c:pt>
                </c:lvl>
              </c:multiLvlStrCache>
            </c:multiLvlStrRef>
          </c:cat>
          <c:val>
            <c:numRef>
              <c:f>Sheet1!$B$2:$B$6</c:f>
              <c:numCache>
                <c:formatCode>General</c:formatCode>
                <c:ptCount val="5"/>
                <c:pt idx="0">
                  <c:v>75</c:v>
                </c:pt>
                <c:pt idx="1">
                  <c:v>375</c:v>
                </c:pt>
                <c:pt idx="2">
                  <c:v>750</c:v>
                </c:pt>
                <c:pt idx="3">
                  <c:v>1501</c:v>
                </c:pt>
                <c:pt idx="4">
                  <c:v>3002</c:v>
                </c:pt>
              </c:numCache>
            </c:numRef>
          </c:val>
        </c:ser>
        <c:dLbls>
          <c:numFmt formatCode="#,##0" sourceLinked="0"/>
          <c:txPr>
            <a:bodyPr/>
            <a:lstStyle/>
            <a:p>
              <a:pPr>
                <a:defRPr b="0" i="0" strike="noStrike" sz="900" u="none">
                  <a:solidFill>
                    <a:srgbClr val="1B1B1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470"/>
                </a:solidFill>
                <a:latin typeface="Calibri"/>
              </a:defRPr>
            </a:pPr>
            <a:endParaRPr lang="en-US"/>
          </a:p>
        </c:txPr>
        <c:crossAx val="2094734552"/>
        <c:crosses val="autoZero"/>
        <c:auto val="1"/>
        <c:lblAlgn val="ctr"/>
        <c:noMultiLvlLbl val="1"/>
      </c:catAx>
      <c:valAx>
        <c:axId val="2094734552"/>
        <c:scaling>
          <c:orientation val="minMax"/>
          <c:max val="3600"/>
        </c:scaling>
        <c:delete val="0"/>
        <c:axPos val="l"/>
        <c:majorGridlines>
          <c:spPr>
            <a:ln w="6350" cap="flat">
              <a:solidFill>
                <a:srgbClr val="E6EBF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Cumulative</c:v>
                </c:pt>
              </c:strCache>
            </c:strRef>
          </c:tx>
          <c:spPr>
            <a:solidFill>
              <a:srgbClr val="1F5FBF"/>
            </a:solidFill>
            <a:effectLst/>
          </c:spPr>
          <c:invertIfNegative val="0"/>
          <c:dLbls>
            <c:numFmt formatCode="#,##0" sourceLinked="0"/>
            <c:txPr>
              <a:bodyPr/>
              <a:lstStyle/>
              <a:p>
                <a:pPr>
                  <a:defRPr b="0" i="0" strike="noStrike" sz="900" u="none">
                    <a:solidFill>
                      <a:srgbClr val="1B1B1B"/>
                    </a:solidFill>
                    <a:latin typeface="Calibri"/>
                  </a:defRPr>
                </a:pPr>
              </a:p>
            </c:txPr>
            <c:showLegendKey val="0"/>
            <c:showVal val="1"/>
            <c:showCatName val="0"/>
            <c:showSerName val="0"/>
            <c:showPercent val="0"/>
            <c:showBubbleSize val="0"/>
            <c:showLeaderLines val="0"/>
          </c:dLbls>
          <c:cat>
            <c:multiLvlStrRef>
              <c:f>Sheet1!$A$2:$A$9</c:f>
              <c:multiLvlStrCache>
                <c:ptCount val="8"/>
                <c:lvl>
                  <c:pt idx="0">
                    <c:v>2025 actual</c:v>
                  </c:pt>
                  <c:pt idx="1">
                    <c:v>+ trend</c:v>
                  </c:pt>
                  <c:pt idx="2">
                    <c:v>+ marketing</c:v>
                  </c:pt>
                  <c:pt idx="3">
                    <c:v>+ anniversary</c:v>
                  </c:pt>
                  <c:pt idx="4">
                    <c:v>+ macro</c:v>
                  </c:pt>
                  <c:pt idx="5">
                    <c:v>+ reach</c:v>
                  </c:pt>
                  <c:pt idx="6">
                    <c:v>+ concert</c:v>
                  </c:pt>
                  <c:pt idx="7">
                    <c:v>weather adj.</c:v>
                  </c:pt>
                </c:lvl>
              </c:multiLvlStrCache>
            </c:multiLvlStrRef>
          </c:cat>
          <c:val>
            <c:numRef>
              <c:f>Sheet1!$B$2:$B$9</c:f>
              <c:numCache>
                <c:formatCode>General</c:formatCode>
                <c:ptCount val="8"/>
                <c:pt idx="0">
                  <c:v>56000</c:v>
                </c:pt>
                <c:pt idx="1">
                  <c:v>58500</c:v>
                </c:pt>
                <c:pt idx="2">
                  <c:v>58792</c:v>
                </c:pt>
                <c:pt idx="3">
                  <c:v>60850</c:v>
                </c:pt>
                <c:pt idx="4">
                  <c:v>60363</c:v>
                </c:pt>
                <c:pt idx="5">
                  <c:v>62363</c:v>
                </c:pt>
                <c:pt idx="6">
                  <c:v>63163</c:v>
                </c:pt>
                <c:pt idx="7">
                  <c:v>62100</c:v>
                </c:pt>
              </c:numCache>
            </c:numRef>
          </c:val>
        </c:ser>
        <c:dLbls>
          <c:numFmt formatCode="#,##0" sourceLinked="0"/>
          <c:txPr>
            <a:bodyPr/>
            <a:lstStyle/>
            <a:p>
              <a:pPr>
                <a:defRPr b="0" i="0" strike="noStrike" sz="900" u="none">
                  <a:solidFill>
                    <a:srgbClr val="1B1B1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470"/>
                </a:solidFill>
                <a:latin typeface="Calibri"/>
              </a:defRPr>
            </a:pPr>
            <a:endParaRPr lang="en-US"/>
          </a:p>
        </c:txPr>
        <c:crossAx val="2094734552"/>
        <c:crosses val="autoZero"/>
        <c:auto val="1"/>
        <c:lblAlgn val="ctr"/>
        <c:noMultiLvlLbl val="1"/>
      </c:catAx>
      <c:valAx>
        <c:axId val="2094734552"/>
        <c:scaling>
          <c:orientation val="minMax"/>
          <c:max val="66000"/>
          <c:min val="50000"/>
        </c:scaling>
        <c:delete val="0"/>
        <c:axPos val="l"/>
        <c:majorGridlines>
          <c:spPr>
            <a:ln w="6350" cap="flat">
              <a:solidFill>
                <a:srgbClr val="E6EBF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Expected</c:v>
                </c:pt>
              </c:strCache>
            </c:strRef>
          </c:tx>
          <c:spPr>
            <a:solidFill>
              <a:srgbClr val="1F5FBF"/>
            </a:solidFill>
            <a:effectLst/>
          </c:spPr>
          <c:invertIfNegative val="0"/>
          <c:dLbls>
            <c:numFmt formatCode="#,##0" sourceLinked="0"/>
            <c:txPr>
              <a:bodyPr/>
              <a:lstStyle/>
              <a:p>
                <a:pPr>
                  <a:defRPr b="0" i="0" strike="noStrike" sz="900" u="none">
                    <a:solidFill>
                      <a:srgbClr val="1B1B1B"/>
                    </a:solidFill>
                    <a:latin typeface="Calibri"/>
                  </a:defRPr>
                </a:pPr>
              </a:p>
            </c:txPr>
            <c:showLegendKey val="0"/>
            <c:showVal val="1"/>
            <c:showCatName val="0"/>
            <c:showSerName val="0"/>
            <c:showPercent val="0"/>
            <c:showBubbleSize val="0"/>
            <c:showLeaderLines val="0"/>
          </c:dLbls>
          <c:cat>
            <c:multiLvlStrRef>
              <c:f>Sheet1!$A$2:$A$5</c:f>
              <c:multiLvlStrCache>
                <c:ptCount val="4"/>
                <c:lvl>
                  <c:pt idx="0">
                    <c:v>Weekend 1</c:v>
                  </c:pt>
                  <c:pt idx="1">
                    <c:v>Weekend 2</c:v>
                  </c:pt>
                  <c:pt idx="2">
                    <c:v>Weekend 3</c:v>
                  </c:pt>
                  <c:pt idx="3">
                    <c:v>Weekend 4</c:v>
                  </c:pt>
                </c:lvl>
              </c:multiLvlStrCache>
            </c:multiLvlStrRef>
          </c:cat>
          <c:val>
            <c:numRef>
              <c:f>Sheet1!$B$2:$B$5</c:f>
              <c:numCache>
                <c:formatCode>General</c:formatCode>
                <c:ptCount val="4"/>
                <c:pt idx="0">
                  <c:v>12200</c:v>
                </c:pt>
                <c:pt idx="1">
                  <c:v>15300</c:v>
                </c:pt>
                <c:pt idx="2">
                  <c:v>18300</c:v>
                </c:pt>
                <c:pt idx="3">
                  <c:v>16300</c:v>
                </c:pt>
              </c:numCache>
            </c:numRef>
          </c:val>
        </c:ser>
        <c:dLbls>
          <c:numFmt formatCode="#,##0" sourceLinked="0"/>
          <c:txPr>
            <a:bodyPr/>
            <a:lstStyle/>
            <a:p>
              <a:pPr>
                <a:defRPr b="0" i="0" strike="noStrike" sz="900" u="none">
                  <a:solidFill>
                    <a:srgbClr val="1B1B1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470"/>
                </a:solidFill>
                <a:latin typeface="Calibri"/>
              </a:defRPr>
            </a:pPr>
            <a:endParaRPr lang="en-US"/>
          </a:p>
        </c:txPr>
        <c:crossAx val="2094734552"/>
        <c:crosses val="autoZero"/>
        <c:auto val="1"/>
        <c:lblAlgn val="ctr"/>
        <c:noMultiLvlLbl val="1"/>
      </c:catAx>
      <c:valAx>
        <c:axId val="2094734552"/>
        <c:scaling>
          <c:orientation val="minMax"/>
          <c:max val="21000"/>
        </c:scaling>
        <c:delete val="0"/>
        <c:axPos val="l"/>
        <c:majorGridlines>
          <c:spPr>
            <a:ln w="6350" cap="flat">
              <a:solidFill>
                <a:srgbClr val="E6EBF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Low case</c:v>
                </c:pt>
              </c:strCache>
            </c:strRef>
          </c:tx>
          <c:spPr>
            <a:solidFill>
              <a:srgbClr val="F2B632"/>
            </a:solidFill>
            <a:effectLst/>
          </c:spPr>
          <c:invertIfNegative val="0"/>
          <c:dLbls>
            <c:numFmt formatCode="#,##0" sourceLinked="0"/>
            <c:txPr>
              <a:bodyPr/>
              <a:lstStyle/>
              <a:p>
                <a:pPr>
                  <a:defRPr b="0" i="0" strike="noStrike" sz="900" u="none">
                    <a:solidFill>
                      <a:srgbClr val="1B1B1B"/>
                    </a:solidFill>
                    <a:latin typeface="Calibri"/>
                  </a:defRPr>
                </a:pPr>
              </a:p>
            </c:txPr>
            <c:showLegendKey val="0"/>
            <c:showVal val="0"/>
            <c:showCatName val="0"/>
            <c:showSerName val="0"/>
            <c:showPercent val="0"/>
            <c:showBubbleSize val="0"/>
            <c:showLeaderLines val="0"/>
          </c:dLbls>
          <c:cat>
            <c:multiLvlStrRef>
              <c:f>Sheet1!$A$2:$A$8</c:f>
              <c:multiLvlStrCache>
                <c:ptCount val="7"/>
                <c:lvl>
                  <c:pt idx="0">
                    <c:v>Weather</c:v>
                  </c:pt>
                  <c:pt idx="1">
                    <c:v>Anniversary</c:v>
                  </c:pt>
                  <c:pt idx="2">
                    <c:v>Reach</c:v>
                  </c:pt>
                  <c:pt idx="3">
                    <c:v>Baseline trend</c:v>
                  </c:pt>
                  <c:pt idx="4">
                    <c:v>Local marketing</c:v>
                  </c:pt>
                  <c:pt idx="5">
                    <c:v>Macro</c:v>
                  </c:pt>
                  <c:pt idx="6">
                    <c:v>Concert</c:v>
                  </c:pt>
                </c:lvl>
              </c:multiLvlStrCache>
            </c:multiLvlStrRef>
          </c:cat>
          <c:val>
            <c:numRef>
              <c:f>Sheet1!$B$2:$B$8</c:f>
              <c:numCache>
                <c:formatCode>General</c:formatCode>
                <c:ptCount val="7"/>
                <c:pt idx="0">
                  <c:v>-4127</c:v>
                </c:pt>
                <c:pt idx="1">
                  <c:v>-744</c:v>
                </c:pt>
                <c:pt idx="2">
                  <c:v>-547</c:v>
                </c:pt>
                <c:pt idx="3">
                  <c:v>-1012</c:v>
                </c:pt>
                <c:pt idx="4">
                  <c:v>-873</c:v>
                </c:pt>
                <c:pt idx="5">
                  <c:v>-335</c:v>
                </c:pt>
                <c:pt idx="6">
                  <c:v>-221</c:v>
                </c:pt>
              </c:numCache>
            </c:numRef>
          </c:val>
        </c:ser>
        <c:ser>
          <c:idx val="1"/>
          <c:order val="1"/>
          <c:tx>
            <c:strRef>
              <c:f>Sheet1!$C$1</c:f>
              <c:strCache>
                <c:ptCount val="1"/>
                <c:pt idx="0">
                  <c:v>High case</c:v>
                </c:pt>
              </c:strCache>
            </c:strRef>
          </c:tx>
          <c:spPr>
            <a:solidFill>
              <a:srgbClr val="1F5FBF"/>
            </a:solidFill>
            <a:effectLst/>
          </c:spPr>
          <c:invertIfNegative val="0"/>
          <c:dLbls>
            <c:numFmt formatCode="#,##0" sourceLinked="0"/>
            <c:txPr>
              <a:bodyPr/>
              <a:lstStyle/>
              <a:p>
                <a:pPr>
                  <a:defRPr b="0" i="0" strike="noStrike" sz="900" u="none">
                    <a:solidFill>
                      <a:srgbClr val="1B1B1B"/>
                    </a:solidFill>
                    <a:latin typeface="Calibri"/>
                  </a:defRPr>
                </a:pPr>
              </a:p>
            </c:txPr>
            <c:showLegendKey val="0"/>
            <c:showVal val="0"/>
            <c:showCatName val="0"/>
            <c:showSerName val="0"/>
            <c:showPercent val="0"/>
            <c:showBubbleSize val="0"/>
            <c:showLeaderLines val="0"/>
          </c:dLbls>
          <c:cat>
            <c:multiLvlStrRef>
              <c:f>Sheet1!$A$2:$A$8</c:f>
              <c:multiLvlStrCache>
                <c:ptCount val="7"/>
                <c:lvl>
                  <c:pt idx="0">
                    <c:v>Weather</c:v>
                  </c:pt>
                  <c:pt idx="1">
                    <c:v>Anniversary</c:v>
                  </c:pt>
                  <c:pt idx="2">
                    <c:v>Reach</c:v>
                  </c:pt>
                  <c:pt idx="3">
                    <c:v>Baseline trend</c:v>
                  </c:pt>
                  <c:pt idx="4">
                    <c:v>Local marketing</c:v>
                  </c:pt>
                  <c:pt idx="5">
                    <c:v>Macro</c:v>
                  </c:pt>
                  <c:pt idx="6">
                    <c:v>Concert</c:v>
                  </c:pt>
                </c:lvl>
              </c:multiLvlStrCache>
            </c:multiLvlStrRef>
          </c:cat>
          <c:val>
            <c:numRef>
              <c:f>Sheet1!$C$2:$C$8</c:f>
              <c:numCache>
                <c:formatCode>General</c:formatCode>
                <c:ptCount val="7"/>
                <c:pt idx="0">
                  <c:v>282</c:v>
                </c:pt>
                <c:pt idx="1">
                  <c:v>1197</c:v>
                </c:pt>
                <c:pt idx="2">
                  <c:v>1139</c:v>
                </c:pt>
                <c:pt idx="3">
                  <c:v>694</c:v>
                </c:pt>
                <c:pt idx="4">
                  <c:v>589</c:v>
                </c:pt>
                <c:pt idx="5">
                  <c:v>852</c:v>
                </c:pt>
                <c:pt idx="6">
                  <c:v>532</c:v>
                </c:pt>
              </c:numCache>
            </c:numRef>
          </c:val>
        </c:ser>
        <c:dLbls>
          <c:numFmt formatCode="#,##0" sourceLinked="0"/>
          <c:txPr>
            <a:bodyPr/>
            <a:lstStyle/>
            <a:p>
              <a:pPr>
                <a:defRPr b="0" i="0" strike="noStrike" sz="900" u="none">
                  <a:solidFill>
                    <a:srgbClr val="1B1B1B"/>
                  </a:solidFill>
                  <a:latin typeface="Calibri"/>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470"/>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6EBF3"/>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47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Booths</c:v>
                </c:pt>
              </c:strCache>
            </c:strRef>
          </c:tx>
          <c:spPr>
            <a:solidFill>
              <a:srgbClr val="1F5FBF"/>
            </a:solidFill>
            <a:effectLst/>
          </c:spPr>
          <c:invertIfNegative val="0"/>
          <c:dLbls>
            <c:numFmt formatCode="#,##0" sourceLinked="0"/>
            <c:txPr>
              <a:bodyPr/>
              <a:lstStyle/>
              <a:p>
                <a:pPr>
                  <a:defRPr b="0" i="0" strike="noStrike" sz="900" u="none">
                    <a:solidFill>
                      <a:srgbClr val="1B1B1B"/>
                    </a:solidFill>
                    <a:latin typeface="Calibri"/>
                  </a:defRPr>
                </a:pPr>
              </a:p>
            </c:txPr>
            <c:showLegendKey val="0"/>
            <c:showVal val="1"/>
            <c:showCatName val="0"/>
            <c:showSerName val="0"/>
            <c:showPercent val="0"/>
            <c:showBubbleSize val="0"/>
            <c:showLeaderLines val="0"/>
          </c:dLbls>
          <c:cat>
            <c:multiLvlStrRef>
              <c:f>Sheet1!$A$2:$A$4</c:f>
              <c:multiLvlStrCache>
                <c:ptCount val="3"/>
                <c:lvl>
                  <c:pt idx="0">
                    <c:v>Food &amp; Beverage</c:v>
                  </c:pt>
                  <c:pt idx="1">
                    <c:v>Merchandise</c:v>
                  </c:pt>
                  <c:pt idx="2">
                    <c:v>Activities</c:v>
                  </c:pt>
                </c:lvl>
              </c:multiLvlStrCache>
            </c:multiLvlStrRef>
          </c:cat>
          <c:val>
            <c:numRef>
              <c:f>Sheet1!$B$2:$B$4</c:f>
              <c:numCache>
                <c:formatCode>General</c:formatCode>
                <c:ptCount val="3"/>
                <c:pt idx="0">
                  <c:v>60</c:v>
                </c:pt>
                <c:pt idx="1">
                  <c:v>28</c:v>
                </c:pt>
                <c:pt idx="2">
                  <c:v>16</c:v>
                </c:pt>
              </c:numCache>
            </c:numRef>
          </c:val>
        </c:ser>
        <c:dLbls>
          <c:numFmt formatCode="#,##0" sourceLinked="0"/>
          <c:txPr>
            <a:bodyPr/>
            <a:lstStyle/>
            <a:p>
              <a:pPr>
                <a:defRPr b="0" i="0" strike="noStrike" sz="900" u="none">
                  <a:solidFill>
                    <a:srgbClr val="1B1B1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470"/>
                </a:solidFill>
                <a:latin typeface="Calibri"/>
              </a:defRPr>
            </a:pPr>
            <a:endParaRPr lang="en-US"/>
          </a:p>
        </c:txPr>
        <c:crossAx val="2094734552"/>
        <c:crosses val="autoZero"/>
        <c:auto val="1"/>
        <c:lblAlgn val="ctr"/>
        <c:noMultiLvlLbl val="1"/>
      </c:catAx>
      <c:valAx>
        <c:axId val="2094734552"/>
        <c:scaling>
          <c:orientation val="minMax"/>
          <c:max val="72"/>
        </c:scaling>
        <c:delete val="1"/>
        <c:axPos val="l"/>
        <c:majorGridlines>
          <c:spPr>
            <a:ln w="6350" cap="flat">
              <a:solidFill>
                <a:srgbClr val="E6EB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Net contribution</c:v>
                </c:pt>
              </c:strCache>
            </c:strRef>
          </c:tx>
          <c:spPr>
            <a:solidFill>
              <a:srgbClr val="F2B632"/>
            </a:solidFill>
            <a:effectLst/>
          </c:spPr>
          <c:invertIfNegative val="0"/>
          <c:dLbls>
            <c:numFmt formatCode="&quot;$&quot;#,##0&quot;k&quot;" sourceLinked="0"/>
            <c:txPr>
              <a:bodyPr/>
              <a:lstStyle/>
              <a:p>
                <a:pPr>
                  <a:defRPr b="0" i="0" strike="noStrike" sz="900" u="none">
                    <a:solidFill>
                      <a:srgbClr val="1B1B1B"/>
                    </a:solidFill>
                    <a:latin typeface="Calibri"/>
                  </a:defRPr>
                </a:pPr>
              </a:p>
            </c:txPr>
            <c:showLegendKey val="0"/>
            <c:showVal val="1"/>
            <c:showCatName val="0"/>
            <c:showSerName val="0"/>
            <c:showPercent val="0"/>
            <c:showBubbleSize val="0"/>
            <c:showLeaderLines val="0"/>
          </c:dLbls>
          <c:cat>
            <c:multiLvlStrRef>
              <c:f>Sheet1!$A$2:$A$4</c:f>
              <c:multiLvlStrCache>
                <c:ptCount val="3"/>
                <c:lvl>
                  <c:pt idx="0">
                    <c:v>A. Hours</c:v>
                  </c:pt>
                  <c:pt idx="1">
                    <c:v>B. Fridays</c:v>
                  </c:pt>
                  <c:pt idx="2">
                    <c:v>C. Fifth weekend</c:v>
                  </c:pt>
                </c:lvl>
              </c:multiLvlStrCache>
            </c:multiLvlStrRef>
          </c:cat>
          <c:val>
            <c:numRef>
              <c:f>Sheet1!$B$2:$B$4</c:f>
              <c:numCache>
                <c:formatCode>General</c:formatCode>
                <c:ptCount val="3"/>
                <c:pt idx="0">
                  <c:v>-8</c:v>
                </c:pt>
                <c:pt idx="1">
                  <c:v>82</c:v>
                </c:pt>
                <c:pt idx="2">
                  <c:v>36</c:v>
                </c:pt>
              </c:numCache>
            </c:numRef>
          </c:val>
        </c:ser>
        <c:dLbls>
          <c:numFmt formatCode="&quot;$&quot;#,##0&quot;k&quot;" sourceLinked="0"/>
          <c:txPr>
            <a:bodyPr/>
            <a:lstStyle/>
            <a:p>
              <a:pPr>
                <a:defRPr b="0" i="0" strike="noStrike" sz="900" u="none">
                  <a:solidFill>
                    <a:srgbClr val="1B1B1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470"/>
                </a:solidFill>
                <a:latin typeface="Calibri"/>
              </a:defRPr>
            </a:pPr>
            <a:endParaRPr lang="en-US"/>
          </a:p>
        </c:txPr>
        <c:crossAx val="2094734552"/>
        <c:crosses val="autoZero"/>
        <c:auto val="1"/>
        <c:lblAlgn val="ctr"/>
        <c:noMultiLvlLbl val="1"/>
      </c:catAx>
      <c:valAx>
        <c:axId val="2094734552"/>
        <c:scaling>
          <c:orientation val="minMax"/>
          <c:max val="100"/>
          <c:min val="-20"/>
        </c:scaling>
        <c:delete val="0"/>
        <c:axPos val="l"/>
        <c:majorGridlines>
          <c:spPr>
            <a:ln w="6350" cap="flat">
              <a:solidFill>
                <a:srgbClr val="E6EBF3"/>
              </a:solidFill>
              <a:prstDash val="solid"/>
              <a:round/>
            </a:ln>
          </c:spPr>
        </c:majorGridlines>
        <c:numFmt formatCode="&quot;$&quot;#,##0&quot;k&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Weighted score</c:v>
                </c:pt>
              </c:strCache>
            </c:strRef>
          </c:tx>
          <c:spPr>
            <a:solidFill>
              <a:srgbClr val="1F5FBF"/>
            </a:solidFill>
            <a:effectLst/>
          </c:spPr>
          <c:invertIfNegative val="0"/>
          <c:dLbls>
            <c:numFmt formatCode="0.0" sourceLinked="0"/>
            <c:txPr>
              <a:bodyPr/>
              <a:lstStyle/>
              <a:p>
                <a:pPr>
                  <a:defRPr b="0" i="0" strike="noStrike" sz="900" u="none">
                    <a:solidFill>
                      <a:srgbClr val="1B1B1B"/>
                    </a:solidFill>
                    <a:latin typeface="Calibri"/>
                  </a:defRPr>
                </a:pPr>
              </a:p>
            </c:txPr>
            <c:showLegendKey val="0"/>
            <c:showVal val="1"/>
            <c:showCatName val="0"/>
            <c:showSerName val="0"/>
            <c:showPercent val="0"/>
            <c:showBubbleSize val="0"/>
            <c:showLeaderLines val="0"/>
          </c:dLbls>
          <c:cat>
            <c:multiLvlStrRef>
              <c:f>Sheet1!$A$2:$A$4</c:f>
              <c:multiLvlStrCache>
                <c:ptCount val="3"/>
                <c:lvl>
                  <c:pt idx="0">
                    <c:v>A. Hours</c:v>
                  </c:pt>
                  <c:pt idx="1">
                    <c:v>B. Fridays</c:v>
                  </c:pt>
                  <c:pt idx="2">
                    <c:v>C. Fifth weekend</c:v>
                  </c:pt>
                </c:lvl>
              </c:multiLvlStrCache>
            </c:multiLvlStrRef>
          </c:cat>
          <c:val>
            <c:numRef>
              <c:f>Sheet1!$B$2:$B$4</c:f>
              <c:numCache>
                <c:formatCode>General</c:formatCode>
                <c:ptCount val="3"/>
                <c:pt idx="0">
                  <c:v>2.2</c:v>
                </c:pt>
                <c:pt idx="1">
                  <c:v>4</c:v>
                </c:pt>
                <c:pt idx="2">
                  <c:v>3.05</c:v>
                </c:pt>
              </c:numCache>
            </c:numRef>
          </c:val>
        </c:ser>
        <c:dLbls>
          <c:numFmt formatCode="0.0" sourceLinked="0"/>
          <c:txPr>
            <a:bodyPr/>
            <a:lstStyle/>
            <a:p>
              <a:pPr>
                <a:defRPr b="0" i="0" strike="noStrike" sz="900" u="none">
                  <a:solidFill>
                    <a:srgbClr val="1B1B1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470"/>
                </a:solidFill>
                <a:latin typeface="Calibri"/>
              </a:defRPr>
            </a:pPr>
            <a:endParaRPr lang="en-US"/>
          </a:p>
        </c:txPr>
        <c:crossAx val="2094734552"/>
        <c:crosses val="autoZero"/>
        <c:auto val="1"/>
        <c:lblAlgn val="ctr"/>
        <c:noMultiLvlLbl val="1"/>
      </c:catAx>
      <c:valAx>
        <c:axId val="2094734552"/>
        <c:scaling>
          <c:orientation val="minMax"/>
          <c:max val="5"/>
        </c:scaling>
        <c:delete val="1"/>
        <c:axPos val="l"/>
        <c:majorGridlines>
          <c:spPr>
            <a:ln w="6350" cap="flat">
              <a:solidFill>
                <a:srgbClr val="E6EB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in this deck traces to outputs/results.json, the Excel workbook, and the GitHub repo. Rebuild in the team's own hands before submission; the case limits AI use to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Pyramid Principle: all three answers on one slide. Sources and the register are in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parts are one workbook: the forecast tab feeds the booth tab, both feed the options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"did you factor everything in." Each row points to the sheet in the workbook and the module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640080" y="1188720"/>
            <a:ext cx="78638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Autumn Harvest Festival</a:t>
            </a:r>
            <a:endParaRPr lang="en-US" sz="4000" dirty="0"/>
          </a:p>
        </p:txBody>
      </p:sp>
      <p:sp>
        <p:nvSpPr>
          <p:cNvPr id="3" name="Text 1"/>
          <p:cNvSpPr txBox="1"/>
          <p:nvPr/>
        </p:nvSpPr>
        <p:spPr>
          <a:xfrm>
            <a:off x="640080" y="2057400"/>
            <a:ext cx="7863840" cy="822960"/>
          </a:xfrm>
          <a:prstGeom prst="rect">
            <a:avLst/>
          </a:prstGeom>
          <a:noFill/>
          <a:ln/>
        </p:spPr>
        <p:txBody>
          <a:bodyPr wrap="square" lIns="0" tIns="0" rIns="0" bIns="0" rtlCol="0" anchor="ctr"/>
          <a:lstStyle/>
          <a:p>
            <a:pPr indent="0" marL="0">
              <a:buNone/>
            </a:pPr>
            <a:r>
              <a:rPr lang="en-US" sz="1800" dirty="0">
                <a:solidFill>
                  <a:srgbClr val="E8EFFA"/>
                </a:solidFill>
                <a:latin typeface="Calibri" pitchFamily="34" charset="0"/>
                <a:ea typeface="Calibri" pitchFamily="34" charset="-122"/>
                <a:cs typeface="Calibri" pitchFamily="34" charset="-120"/>
              </a:rPr>
              <a:t>The 25th anniversary season: attendance forecast, vendor booth mix, and the growth path</a:t>
            </a:r>
            <a:endParaRPr lang="en-US" sz="1800" dirty="0"/>
          </a:p>
        </p:txBody>
      </p:sp>
      <p:sp>
        <p:nvSpPr>
          <p:cNvPr id="4" name="Shape 2"/>
          <p:cNvSpPr/>
          <p:nvPr/>
        </p:nvSpPr>
        <p:spPr>
          <a:xfrm>
            <a:off x="640080" y="3200400"/>
            <a:ext cx="201168" cy="201168"/>
          </a:xfrm>
          <a:prstGeom prst="ellipse">
            <a:avLst/>
          </a:prstGeom>
          <a:solidFill>
            <a:srgbClr val="F2B632"/>
          </a:solidFill>
          <a:ln w="12700">
            <a:solidFill>
              <a:srgbClr val="F2B632"/>
            </a:solidFill>
            <a:prstDash val="solid"/>
          </a:ln>
        </p:spPr>
      </p:sp>
      <p:sp>
        <p:nvSpPr>
          <p:cNvPr id="5" name="Text 3"/>
          <p:cNvSpPr txBox="1"/>
          <p:nvPr/>
        </p:nvSpPr>
        <p:spPr>
          <a:xfrm>
            <a:off x="960120" y="3154680"/>
            <a:ext cx="7315200" cy="3200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WDPR Fall 2026 Industrial Engineering Case Study</a:t>
            </a:r>
            <a:endParaRPr lang="en-US" sz="1300" dirty="0"/>
          </a:p>
        </p:txBody>
      </p:sp>
      <p:sp>
        <p:nvSpPr>
          <p:cNvPr id="6" name="Text 4"/>
          <p:cNvSpPr txBox="1"/>
          <p:nvPr/>
        </p:nvSpPr>
        <p:spPr>
          <a:xfrm>
            <a:off x="960120" y="3520440"/>
            <a:ext cx="7315200" cy="320040"/>
          </a:xfrm>
          <a:prstGeom prst="rect">
            <a:avLst/>
          </a:prstGeom>
          <a:noFill/>
          <a:ln/>
        </p:spPr>
        <p:txBody>
          <a:bodyPr wrap="square" lIns="0" tIns="0" rIns="0" bIns="0" rtlCol="0" anchor="ctr"/>
          <a:lstStyle/>
          <a:p>
            <a:pPr indent="0" marL="0">
              <a:buNone/>
            </a:pPr>
            <a:r>
              <a:rPr lang="en-US" sz="1100" dirty="0">
                <a:solidFill>
                  <a:srgbClr val="F2B632"/>
                </a:solidFill>
                <a:latin typeface="Calibri" pitchFamily="34" charset="0"/>
                <a:ea typeface="Calibri" pitchFamily="34" charset="-122"/>
                <a:cs typeface="Calibri" pitchFamily="34" charset="-120"/>
              </a:rPr>
              <a:t>Prepared for festival leadership   |   Team name   |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0B2545"/>
                </a:solidFill>
                <a:latin typeface="Cambria" pitchFamily="34" charset="0"/>
                <a:ea typeface="Cambria" pitchFamily="34" charset="-122"/>
                <a:cs typeface="Cambria" pitchFamily="34" charset="-120"/>
              </a:rPr>
              <a:t>62,100 guests, a 60 / 28 / 16 booth mix, and Fridays in 2027</a:t>
            </a:r>
            <a:endParaRPr lang="en-US" sz="2400" dirty="0"/>
          </a:p>
        </p:txBody>
      </p:sp>
      <p:sp>
        <p:nvSpPr>
          <p:cNvPr id="3" name="Shape 1"/>
          <p:cNvSpPr/>
          <p:nvPr/>
        </p:nvSpPr>
        <p:spPr>
          <a:xfrm>
            <a:off x="457200" y="1097280"/>
            <a:ext cx="2651760" cy="3474720"/>
          </a:xfrm>
          <a:prstGeom prst="roundRect">
            <a:avLst>
              <a:gd name="adj" fmla="val 2759"/>
            </a:avLst>
          </a:prstGeom>
          <a:solidFill>
            <a:srgbClr val="E8EFFA"/>
          </a:solidFill>
          <a:ln w="12700">
            <a:solidFill>
              <a:srgbClr val="E8EFFA"/>
            </a:solidFill>
            <a:prstDash val="solid"/>
          </a:ln>
        </p:spPr>
      </p:sp>
      <p:sp>
        <p:nvSpPr>
          <p:cNvPr id="4" name="Text 2"/>
          <p:cNvSpPr txBox="1"/>
          <p:nvPr/>
        </p:nvSpPr>
        <p:spPr>
          <a:xfrm>
            <a:off x="594360" y="1207008"/>
            <a:ext cx="2377440" cy="274320"/>
          </a:xfrm>
          <a:prstGeom prst="rect">
            <a:avLst/>
          </a:prstGeom>
          <a:noFill/>
          <a:ln/>
        </p:spPr>
        <p:txBody>
          <a:bodyPr wrap="square" lIns="0" tIns="0" rIns="0" bIns="0" rtlCol="0" anchor="ctr"/>
          <a:lstStyle/>
          <a:p>
            <a:pPr indent="0" marL="0">
              <a:buNone/>
            </a:pPr>
            <a:r>
              <a:rPr lang="en-US" sz="1100" b="1" dirty="0">
                <a:solidFill>
                  <a:srgbClr val="5B6470"/>
                </a:solidFill>
                <a:latin typeface="Calibri" pitchFamily="34" charset="0"/>
                <a:ea typeface="Calibri" pitchFamily="34" charset="-122"/>
                <a:cs typeface="Calibri" pitchFamily="34" charset="-120"/>
              </a:rPr>
              <a:t>Part 1. Attendance</a:t>
            </a:r>
            <a:endParaRPr lang="en-US" sz="1100" dirty="0"/>
          </a:p>
        </p:txBody>
      </p:sp>
      <p:sp>
        <p:nvSpPr>
          <p:cNvPr id="5" name="Text 3"/>
          <p:cNvSpPr txBox="1"/>
          <p:nvPr/>
        </p:nvSpPr>
        <p:spPr>
          <a:xfrm>
            <a:off x="594360" y="1481328"/>
            <a:ext cx="2377440" cy="548640"/>
          </a:xfrm>
          <a:prstGeom prst="rect">
            <a:avLst/>
          </a:prstGeom>
          <a:noFill/>
          <a:ln/>
        </p:spPr>
        <p:txBody>
          <a:bodyPr wrap="square" lIns="0" tIns="0" rIns="0" bIns="0" rtlCol="0" anchor="ctr"/>
          <a:lstStyle/>
          <a:p>
            <a:pPr indent="0" marL="0">
              <a:buNone/>
            </a:pPr>
            <a:r>
              <a:rPr lang="en-US" sz="2800" b="1" dirty="0">
                <a:solidFill>
                  <a:srgbClr val="1F5FBF"/>
                </a:solidFill>
                <a:latin typeface="Cambria" pitchFamily="34" charset="0"/>
                <a:ea typeface="Cambria" pitchFamily="34" charset="-122"/>
                <a:cs typeface="Cambria" pitchFamily="34" charset="-120"/>
              </a:rPr>
              <a:t>62,100</a:t>
            </a:r>
            <a:endParaRPr lang="en-US" sz="2800" dirty="0"/>
          </a:p>
        </p:txBody>
      </p:sp>
      <p:sp>
        <p:nvSpPr>
          <p:cNvPr id="6" name="Text 4"/>
          <p:cNvSpPr txBox="1"/>
          <p:nvPr/>
        </p:nvSpPr>
        <p:spPr>
          <a:xfrm>
            <a:off x="594360" y="2029968"/>
            <a:ext cx="2377440" cy="411480"/>
          </a:xfrm>
          <a:prstGeom prst="rect">
            <a:avLst/>
          </a:prstGeom>
          <a:noFill/>
          <a:ln/>
        </p:spPr>
        <p:txBody>
          <a:bodyPr wrap="square" lIns="0" tIns="0" rIns="0" bIns="0" rtlCol="0" anchor="ctr"/>
          <a:lstStyle/>
          <a:p>
            <a:pPr indent="0" marL="0">
              <a:buNone/>
            </a:pPr>
            <a:r>
              <a:rPr lang="en-US" sz="950" dirty="0">
                <a:solidFill>
                  <a:srgbClr val="5B6470"/>
                </a:solidFill>
                <a:latin typeface="Calibri" pitchFamily="34" charset="0"/>
                <a:ea typeface="Calibri" pitchFamily="34" charset="-122"/>
                <a:cs typeface="Calibri" pitchFamily="34" charset="-120"/>
              </a:rPr>
              <a:t>expected 2026 attendance (P10 59,100 to P90 64,700)</a:t>
            </a:r>
            <a:endParaRPr lang="en-US" sz="950" dirty="0"/>
          </a:p>
        </p:txBody>
      </p:sp>
      <p:sp>
        <p:nvSpPr>
          <p:cNvPr id="7" name="Text 5"/>
          <p:cNvSpPr txBox="1"/>
          <p:nvPr/>
        </p:nvSpPr>
        <p:spPr>
          <a:xfrm>
            <a:off x="548640" y="2468880"/>
            <a:ext cx="2468880" cy="2011680"/>
          </a:xfrm>
          <a:prstGeom prst="rect">
            <a:avLst/>
          </a:prstGeom>
          <a:noFill/>
          <a:ln/>
        </p:spPr>
        <p:txBody>
          <a:bodyPr wrap="square" lIns="635" tIns="635" rIns="635" bIns="635" rtlCol="0" anchor="t"/>
          <a:lstStyle/>
          <a:p>
            <a:pPr marL="152400" indent="-152400">
              <a:spcAft>
                <a:spcPts val="500"/>
              </a:spcAft>
              <a:buSzPct val="100000"/>
              <a:buChar char="•"/>
            </a:pPr>
            <a:r>
              <a:rPr lang="en-US" sz="1000" dirty="0">
                <a:solidFill>
                  <a:srgbClr val="1B1B1B"/>
                </a:solidFill>
                <a:latin typeface="Calibri" pitchFamily="34" charset="0"/>
                <a:ea typeface="Calibri" pitchFamily="34" charset="-122"/>
                <a:cs typeface="Calibri" pitchFamily="34" charset="-120"/>
              </a:rPr>
              <a:t>Up 11 percent on 2025 from trend, the 25th anniversary, wider reach, and the concert, net of a soft macro backdrop</a:t>
            </a:r>
            <a:endParaRPr lang="en-US" sz="1000" dirty="0"/>
          </a:p>
          <a:p>
            <a:pPr marL="152400" indent="-152400">
              <a:spcAft>
                <a:spcPts val="500"/>
              </a:spcAft>
              <a:buSzPct val="100000"/>
              <a:buChar char="•"/>
            </a:pPr>
            <a:r>
              <a:rPr lang="en-US" sz="1000" dirty="0">
                <a:solidFill>
                  <a:srgbClr val="1B1B1B"/>
                </a:solidFill>
                <a:latin typeface="Calibri" pitchFamily="34" charset="0"/>
                <a:ea typeface="Calibri" pitchFamily="34" charset="-122"/>
                <a:cs typeface="Calibri" pitchFamily="34" charset="-120"/>
              </a:rPr>
              <a:t>Peak weekend stays Weekend 3 (18,300). Design day is Weekend 3 Saturday at about 10,100</a:t>
            </a:r>
            <a:endParaRPr lang="en-US" sz="1000" dirty="0"/>
          </a:p>
          <a:p>
            <a:pPr marL="152400" indent="-152400">
              <a:spcAft>
                <a:spcPts val="500"/>
              </a:spcAft>
              <a:buSzPct val="100000"/>
              <a:buChar char="•"/>
            </a:pPr>
            <a:r>
              <a:rPr lang="en-US" sz="1000" dirty="0">
                <a:solidFill>
                  <a:srgbClr val="1B1B1B"/>
                </a:solidFill>
                <a:latin typeface="Calibri" pitchFamily="34" charset="0"/>
                <a:ea typeface="Calibri" pitchFamily="34" charset="-122"/>
                <a:cs typeface="Calibri" pitchFamily="34" charset="-120"/>
              </a:rPr>
              <a:t>Weekend 4 overtakes only if the concert act exceeds roughly 20M monthly listeners</a:t>
            </a:r>
            <a:endParaRPr lang="en-US" sz="1000" dirty="0"/>
          </a:p>
        </p:txBody>
      </p:sp>
      <p:sp>
        <p:nvSpPr>
          <p:cNvPr id="8" name="Shape 6"/>
          <p:cNvSpPr/>
          <p:nvPr/>
        </p:nvSpPr>
        <p:spPr>
          <a:xfrm>
            <a:off x="3246120" y="1097280"/>
            <a:ext cx="2651760" cy="3474720"/>
          </a:xfrm>
          <a:prstGeom prst="roundRect">
            <a:avLst>
              <a:gd name="adj" fmla="val 2759"/>
            </a:avLst>
          </a:prstGeom>
          <a:solidFill>
            <a:srgbClr val="E8EFFA"/>
          </a:solidFill>
          <a:ln w="12700">
            <a:solidFill>
              <a:srgbClr val="E8EFFA"/>
            </a:solidFill>
            <a:prstDash val="solid"/>
          </a:ln>
        </p:spPr>
      </p:sp>
      <p:sp>
        <p:nvSpPr>
          <p:cNvPr id="9" name="Text 7"/>
          <p:cNvSpPr txBox="1"/>
          <p:nvPr/>
        </p:nvSpPr>
        <p:spPr>
          <a:xfrm>
            <a:off x="3383280" y="1207008"/>
            <a:ext cx="2377440" cy="274320"/>
          </a:xfrm>
          <a:prstGeom prst="rect">
            <a:avLst/>
          </a:prstGeom>
          <a:noFill/>
          <a:ln/>
        </p:spPr>
        <p:txBody>
          <a:bodyPr wrap="square" lIns="0" tIns="0" rIns="0" bIns="0" rtlCol="0" anchor="ctr"/>
          <a:lstStyle/>
          <a:p>
            <a:pPr indent="0" marL="0">
              <a:buNone/>
            </a:pPr>
            <a:r>
              <a:rPr lang="en-US" sz="1100" b="1" dirty="0">
                <a:solidFill>
                  <a:srgbClr val="5B6470"/>
                </a:solidFill>
                <a:latin typeface="Calibri" pitchFamily="34" charset="0"/>
                <a:ea typeface="Calibri" pitchFamily="34" charset="-122"/>
                <a:cs typeface="Calibri" pitchFamily="34" charset="-120"/>
              </a:rPr>
              <a:t>Part 2. Booth mix</a:t>
            </a:r>
            <a:endParaRPr lang="en-US" sz="1100" dirty="0"/>
          </a:p>
        </p:txBody>
      </p:sp>
      <p:sp>
        <p:nvSpPr>
          <p:cNvPr id="10" name="Text 8"/>
          <p:cNvSpPr txBox="1"/>
          <p:nvPr/>
        </p:nvSpPr>
        <p:spPr>
          <a:xfrm>
            <a:off x="3383280" y="1481328"/>
            <a:ext cx="2377440" cy="548640"/>
          </a:xfrm>
          <a:prstGeom prst="rect">
            <a:avLst/>
          </a:prstGeom>
          <a:noFill/>
          <a:ln/>
        </p:spPr>
        <p:txBody>
          <a:bodyPr wrap="square" lIns="0" tIns="0" rIns="0" bIns="0" rtlCol="0" anchor="ctr"/>
          <a:lstStyle/>
          <a:p>
            <a:pPr indent="0" marL="0">
              <a:buNone/>
            </a:pPr>
            <a:r>
              <a:rPr lang="en-US" sz="2800" b="1" dirty="0">
                <a:solidFill>
                  <a:srgbClr val="1F5FBF"/>
                </a:solidFill>
                <a:latin typeface="Cambria" pitchFamily="34" charset="0"/>
                <a:ea typeface="Cambria" pitchFamily="34" charset="-122"/>
                <a:cs typeface="Cambria" pitchFamily="34" charset="-120"/>
              </a:rPr>
              <a:t>60 / 28 / 16</a:t>
            </a:r>
            <a:endParaRPr lang="en-US" sz="2800" dirty="0"/>
          </a:p>
        </p:txBody>
      </p:sp>
      <p:sp>
        <p:nvSpPr>
          <p:cNvPr id="11" name="Text 9"/>
          <p:cNvSpPr txBox="1"/>
          <p:nvPr/>
        </p:nvSpPr>
        <p:spPr>
          <a:xfrm>
            <a:off x="3383280" y="2029968"/>
            <a:ext cx="2377440" cy="411480"/>
          </a:xfrm>
          <a:prstGeom prst="rect">
            <a:avLst/>
          </a:prstGeom>
          <a:noFill/>
          <a:ln/>
        </p:spPr>
        <p:txBody>
          <a:bodyPr wrap="square" lIns="0" tIns="0" rIns="0" bIns="0" rtlCol="0" anchor="ctr"/>
          <a:lstStyle/>
          <a:p>
            <a:pPr indent="0" marL="0">
              <a:buNone/>
            </a:pPr>
            <a:r>
              <a:rPr lang="en-US" sz="950" dirty="0">
                <a:solidFill>
                  <a:srgbClr val="5B6470"/>
                </a:solidFill>
                <a:latin typeface="Calibri" pitchFamily="34" charset="0"/>
                <a:ea typeface="Calibri" pitchFamily="34" charset="-122"/>
                <a:cs typeface="Calibri" pitchFamily="34" charset="-120"/>
              </a:rPr>
              <a:t>Food &amp; Beverage / Merchandise / Activities booths</a:t>
            </a:r>
            <a:endParaRPr lang="en-US" sz="950" dirty="0"/>
          </a:p>
        </p:txBody>
      </p:sp>
      <p:sp>
        <p:nvSpPr>
          <p:cNvPr id="12" name="Text 10"/>
          <p:cNvSpPr txBox="1"/>
          <p:nvPr/>
        </p:nvSpPr>
        <p:spPr>
          <a:xfrm>
            <a:off x="3337560" y="2468880"/>
            <a:ext cx="2468880" cy="2011680"/>
          </a:xfrm>
          <a:prstGeom prst="rect">
            <a:avLst/>
          </a:prstGeom>
          <a:noFill/>
          <a:ln/>
        </p:spPr>
        <p:txBody>
          <a:bodyPr wrap="square" lIns="635" tIns="635" rIns="635" bIns="635" rtlCol="0" anchor="t"/>
          <a:lstStyle/>
          <a:p>
            <a:pPr marL="152400" indent="-152400">
              <a:spcAft>
                <a:spcPts val="500"/>
              </a:spcAft>
              <a:buSzPct val="100000"/>
              <a:buChar char="•"/>
            </a:pPr>
            <a:r>
              <a:rPr lang="en-US" sz="1000" dirty="0">
                <a:solidFill>
                  <a:srgbClr val="1B1B1B"/>
                </a:solidFill>
                <a:latin typeface="Calibri" pitchFamily="34" charset="0"/>
                <a:ea typeface="Calibri" pitchFamily="34" charset="-122"/>
                <a:cs typeface="Calibri" pitchFamily="34" charset="-120"/>
              </a:rPr>
              <a:t>Uses all 120 standard booth units</a:t>
            </a:r>
            <a:endParaRPr lang="en-US" sz="1000" dirty="0"/>
          </a:p>
          <a:p>
            <a:pPr marL="152400" indent="-152400">
              <a:spcAft>
                <a:spcPts val="500"/>
              </a:spcAft>
              <a:buSzPct val="100000"/>
              <a:buChar char="•"/>
            </a:pPr>
            <a:r>
              <a:rPr lang="en-US" sz="1000" dirty="0">
                <a:solidFill>
                  <a:srgbClr val="1B1B1B"/>
                </a:solidFill>
                <a:latin typeface="Calibri" pitchFamily="34" charset="0"/>
                <a:ea typeface="Calibri" pitchFamily="34" charset="-122"/>
                <a:cs typeface="Calibri" pitchFamily="34" charset="-120"/>
              </a:rPr>
              <a:t>Peak waits under 10 minutes for food and 5 for merchandise on the design day</a:t>
            </a:r>
            <a:endParaRPr lang="en-US" sz="1000" dirty="0"/>
          </a:p>
          <a:p>
            <a:pPr marL="152400" indent="-152400">
              <a:spcAft>
                <a:spcPts val="500"/>
              </a:spcAft>
              <a:buSzPct val="100000"/>
              <a:buChar char="•"/>
            </a:pPr>
            <a:r>
              <a:rPr lang="en-US" sz="1000" dirty="0">
                <a:solidFill>
                  <a:srgbClr val="1B1B1B"/>
                </a:solidFill>
                <a:latin typeface="Calibri" pitchFamily="34" charset="0"/>
                <a:ea typeface="Calibri" pitchFamily="34" charset="-122"/>
                <a:cs typeface="Calibri" pitchFamily="34" charset="-120"/>
              </a:rPr>
              <a:t>Every vendor clears a sales floor. Organizer contribution about $299k, within 2 percent of the profit maximum</a:t>
            </a:r>
            <a:endParaRPr lang="en-US" sz="1000" dirty="0"/>
          </a:p>
        </p:txBody>
      </p:sp>
      <p:sp>
        <p:nvSpPr>
          <p:cNvPr id="13" name="Shape 11"/>
          <p:cNvSpPr/>
          <p:nvPr/>
        </p:nvSpPr>
        <p:spPr>
          <a:xfrm>
            <a:off x="6035040" y="1097280"/>
            <a:ext cx="2651760" cy="3474720"/>
          </a:xfrm>
          <a:prstGeom prst="roundRect">
            <a:avLst>
              <a:gd name="adj" fmla="val 2759"/>
            </a:avLst>
          </a:prstGeom>
          <a:solidFill>
            <a:srgbClr val="E8EFFA"/>
          </a:solidFill>
          <a:ln w="12700">
            <a:solidFill>
              <a:srgbClr val="E8EFFA"/>
            </a:solidFill>
            <a:prstDash val="solid"/>
          </a:ln>
        </p:spPr>
      </p:sp>
      <p:sp>
        <p:nvSpPr>
          <p:cNvPr id="14" name="Text 12"/>
          <p:cNvSpPr txBox="1"/>
          <p:nvPr/>
        </p:nvSpPr>
        <p:spPr>
          <a:xfrm>
            <a:off x="6172200" y="1207008"/>
            <a:ext cx="2377440" cy="274320"/>
          </a:xfrm>
          <a:prstGeom prst="rect">
            <a:avLst/>
          </a:prstGeom>
          <a:noFill/>
          <a:ln/>
        </p:spPr>
        <p:txBody>
          <a:bodyPr wrap="square" lIns="0" tIns="0" rIns="0" bIns="0" rtlCol="0" anchor="ctr"/>
          <a:lstStyle/>
          <a:p>
            <a:pPr indent="0" marL="0">
              <a:buNone/>
            </a:pPr>
            <a:r>
              <a:rPr lang="en-US" sz="1100" b="1" dirty="0">
                <a:solidFill>
                  <a:srgbClr val="5B6470"/>
                </a:solidFill>
                <a:latin typeface="Calibri" pitchFamily="34" charset="0"/>
                <a:ea typeface="Calibri" pitchFamily="34" charset="-122"/>
                <a:cs typeface="Calibri" pitchFamily="34" charset="-120"/>
              </a:rPr>
              <a:t>Part 3. Growth option</a:t>
            </a:r>
            <a:endParaRPr lang="en-US" sz="1100" dirty="0"/>
          </a:p>
        </p:txBody>
      </p:sp>
      <p:sp>
        <p:nvSpPr>
          <p:cNvPr id="15" name="Text 13"/>
          <p:cNvSpPr txBox="1"/>
          <p:nvPr/>
        </p:nvSpPr>
        <p:spPr>
          <a:xfrm>
            <a:off x="6172200" y="1481328"/>
            <a:ext cx="2377440" cy="548640"/>
          </a:xfrm>
          <a:prstGeom prst="rect">
            <a:avLst/>
          </a:prstGeom>
          <a:noFill/>
          <a:ln/>
        </p:spPr>
        <p:txBody>
          <a:bodyPr wrap="square" lIns="0" tIns="0" rIns="0" bIns="0" rtlCol="0" anchor="ctr"/>
          <a:lstStyle/>
          <a:p>
            <a:pPr indent="0" marL="0">
              <a:buNone/>
            </a:pPr>
            <a:r>
              <a:rPr lang="en-US" sz="2800" b="1" dirty="0">
                <a:solidFill>
                  <a:srgbClr val="1F5FBF"/>
                </a:solidFill>
                <a:latin typeface="Cambria" pitchFamily="34" charset="0"/>
                <a:ea typeface="Cambria" pitchFamily="34" charset="-122"/>
                <a:cs typeface="Cambria" pitchFamily="34" charset="-120"/>
              </a:rPr>
              <a:t>Option B</a:t>
            </a:r>
            <a:endParaRPr lang="en-US" sz="2800" dirty="0"/>
          </a:p>
        </p:txBody>
      </p:sp>
      <p:sp>
        <p:nvSpPr>
          <p:cNvPr id="16" name="Text 14"/>
          <p:cNvSpPr txBox="1"/>
          <p:nvPr/>
        </p:nvSpPr>
        <p:spPr>
          <a:xfrm>
            <a:off x="6172200" y="2029968"/>
            <a:ext cx="2377440" cy="411480"/>
          </a:xfrm>
          <a:prstGeom prst="rect">
            <a:avLst/>
          </a:prstGeom>
          <a:noFill/>
          <a:ln/>
        </p:spPr>
        <p:txBody>
          <a:bodyPr wrap="square" lIns="0" tIns="0" rIns="0" bIns="0" rtlCol="0" anchor="ctr"/>
          <a:lstStyle/>
          <a:p>
            <a:pPr indent="0" marL="0">
              <a:buNone/>
            </a:pPr>
            <a:r>
              <a:rPr lang="en-US" sz="950" dirty="0">
                <a:solidFill>
                  <a:srgbClr val="5B6470"/>
                </a:solidFill>
                <a:latin typeface="Calibri" pitchFamily="34" charset="0"/>
                <a:ea typeface="Calibri" pitchFamily="34" charset="-122"/>
                <a:cs typeface="Calibri" pitchFamily="34" charset="-120"/>
              </a:rPr>
              <a:t>add Fridays, piloted on Weekends 2 and 3 in 2027</a:t>
            </a:r>
            <a:endParaRPr lang="en-US" sz="950" dirty="0"/>
          </a:p>
        </p:txBody>
      </p:sp>
      <p:sp>
        <p:nvSpPr>
          <p:cNvPr id="17" name="Text 15"/>
          <p:cNvSpPr txBox="1"/>
          <p:nvPr/>
        </p:nvSpPr>
        <p:spPr>
          <a:xfrm>
            <a:off x="6126480" y="2468880"/>
            <a:ext cx="2468880" cy="2011680"/>
          </a:xfrm>
          <a:prstGeom prst="rect">
            <a:avLst/>
          </a:prstGeom>
          <a:noFill/>
          <a:ln/>
        </p:spPr>
        <p:txBody>
          <a:bodyPr wrap="square" lIns="635" tIns="635" rIns="635" bIns="635" rtlCol="0" anchor="t"/>
          <a:lstStyle/>
          <a:p>
            <a:pPr marL="152400" indent="-152400">
              <a:spcAft>
                <a:spcPts val="500"/>
              </a:spcAft>
              <a:buSzPct val="100000"/>
              <a:buChar char="•"/>
            </a:pPr>
            <a:r>
              <a:rPr lang="en-US" sz="1000" dirty="0">
                <a:solidFill>
                  <a:srgbClr val="1B1B1B"/>
                </a:solidFill>
                <a:latin typeface="Calibri" pitchFamily="34" charset="0"/>
                <a:ea typeface="Calibri" pitchFamily="34" charset="-122"/>
                <a:cs typeface="Calibri" pitchFamily="34" charset="-120"/>
              </a:rPr>
              <a:t>About 10,000 net new guests (+16 percent) and roughly $82k net contribution</a:t>
            </a:r>
            <a:endParaRPr lang="en-US" sz="1000" dirty="0"/>
          </a:p>
          <a:p>
            <a:pPr marL="152400" indent="-152400">
              <a:spcAft>
                <a:spcPts val="500"/>
              </a:spcAft>
              <a:buSzPct val="100000"/>
              <a:buChar char="•"/>
            </a:pPr>
            <a:r>
              <a:rPr lang="en-US" sz="1000" dirty="0">
                <a:solidFill>
                  <a:srgbClr val="1B1B1B"/>
                </a:solidFill>
                <a:latin typeface="Calibri" pitchFamily="34" charset="0"/>
                <a:ea typeface="Calibri" pitchFamily="34" charset="-122"/>
                <a:cs typeface="Calibri" pitchFamily="34" charset="-120"/>
              </a:rPr>
              <a:t>Pulls about 5,400 visits off the weekend peak, the only option that relieves it and pays</a:t>
            </a:r>
            <a:endParaRPr lang="en-US" sz="1000" dirty="0"/>
          </a:p>
          <a:p>
            <a:pPr marL="152400" indent="-152400">
              <a:spcAft>
                <a:spcPts val="500"/>
              </a:spcAft>
              <a:buSzPct val="100000"/>
              <a:buChar char="•"/>
            </a:pPr>
            <a:r>
              <a:rPr lang="en-US" sz="1000" dirty="0">
                <a:solidFill>
                  <a:srgbClr val="1B1B1B"/>
                </a:solidFill>
                <a:latin typeface="Calibri" pitchFamily="34" charset="0"/>
                <a:ea typeface="Calibri" pitchFamily="34" charset="-122"/>
                <a:cs typeface="Calibri" pitchFamily="34" charset="-120"/>
              </a:rPr>
              <a:t>Pair with date based pricing so capacity is added where demand fills it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0B2545"/>
                </a:solidFill>
                <a:latin typeface="Cambria" pitchFamily="34" charset="0"/>
                <a:ea typeface="Cambria" pitchFamily="34" charset="-122"/>
                <a:cs typeface="Cambria" pitchFamily="34" charset="-120"/>
              </a:rPr>
              <a:t>One linked model: demand sets capacity, capacity sets the lever</a:t>
            </a:r>
            <a:endParaRPr lang="en-US" sz="2400" dirty="0"/>
          </a:p>
        </p:txBody>
      </p:sp>
      <p:sp>
        <p:nvSpPr>
          <p:cNvPr id="3" name="Shape 1"/>
          <p:cNvSpPr/>
          <p:nvPr/>
        </p:nvSpPr>
        <p:spPr>
          <a:xfrm>
            <a:off x="457200" y="1188720"/>
            <a:ext cx="2286000" cy="1600200"/>
          </a:xfrm>
          <a:prstGeom prst="roundRect">
            <a:avLst>
              <a:gd name="adj" fmla="val 4571"/>
            </a:avLst>
          </a:prstGeom>
          <a:solidFill>
            <a:srgbClr val="0B2545"/>
          </a:solidFill>
          <a:ln w="12700">
            <a:solidFill>
              <a:srgbClr val="0B2545"/>
            </a:solidFill>
            <a:prstDash val="solid"/>
          </a:ln>
        </p:spPr>
      </p:sp>
      <p:sp>
        <p:nvSpPr>
          <p:cNvPr id="4" name="Text 2"/>
          <p:cNvSpPr txBox="1"/>
          <p:nvPr/>
        </p:nvSpPr>
        <p:spPr>
          <a:xfrm>
            <a:off x="594360" y="1298448"/>
            <a:ext cx="201168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Part 1  Forecast</a:t>
            </a:r>
            <a:endParaRPr lang="en-US" sz="1500" dirty="0"/>
          </a:p>
        </p:txBody>
      </p:sp>
      <p:sp>
        <p:nvSpPr>
          <p:cNvPr id="5" name="Text 3"/>
          <p:cNvSpPr txBox="1"/>
          <p:nvPr/>
        </p:nvSpPr>
        <p:spPr>
          <a:xfrm>
            <a:off x="594360" y="1645920"/>
            <a:ext cx="2011680" cy="10972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Driver based bridge from 2025 actuals. Output is season attendance and the design day.</a:t>
            </a:r>
            <a:endParaRPr lang="en-US" sz="1050" dirty="0"/>
          </a:p>
        </p:txBody>
      </p:sp>
      <p:sp>
        <p:nvSpPr>
          <p:cNvPr id="6" name="Shape 4"/>
          <p:cNvSpPr/>
          <p:nvPr/>
        </p:nvSpPr>
        <p:spPr>
          <a:xfrm>
            <a:off x="2880360" y="1783080"/>
            <a:ext cx="411480" cy="411480"/>
          </a:xfrm>
          <a:prstGeom prst="rightArrow">
            <a:avLst/>
          </a:prstGeom>
          <a:solidFill>
            <a:srgbClr val="D5DDEA"/>
          </a:solidFill>
          <a:ln w="12700">
            <a:solidFill>
              <a:srgbClr val="D5DDEA"/>
            </a:solidFill>
            <a:prstDash val="solid"/>
          </a:ln>
        </p:spPr>
      </p:sp>
      <p:sp>
        <p:nvSpPr>
          <p:cNvPr id="7" name="Shape 5"/>
          <p:cNvSpPr/>
          <p:nvPr/>
        </p:nvSpPr>
        <p:spPr>
          <a:xfrm>
            <a:off x="3429000" y="1188720"/>
            <a:ext cx="2286000" cy="1600200"/>
          </a:xfrm>
          <a:prstGeom prst="roundRect">
            <a:avLst>
              <a:gd name="adj" fmla="val 4571"/>
            </a:avLst>
          </a:prstGeom>
          <a:solidFill>
            <a:srgbClr val="1F5FBF"/>
          </a:solidFill>
          <a:ln w="12700">
            <a:solidFill>
              <a:srgbClr val="1F5FBF"/>
            </a:solidFill>
            <a:prstDash val="solid"/>
          </a:ln>
        </p:spPr>
      </p:sp>
      <p:sp>
        <p:nvSpPr>
          <p:cNvPr id="8" name="Text 6"/>
          <p:cNvSpPr txBox="1"/>
          <p:nvPr/>
        </p:nvSpPr>
        <p:spPr>
          <a:xfrm>
            <a:off x="3566160" y="1298448"/>
            <a:ext cx="201168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Part 2  Booths</a:t>
            </a:r>
            <a:endParaRPr lang="en-US" sz="1500" dirty="0"/>
          </a:p>
        </p:txBody>
      </p:sp>
      <p:sp>
        <p:nvSpPr>
          <p:cNvPr id="9" name="Text 7"/>
          <p:cNvSpPr txBox="1"/>
          <p:nvPr/>
        </p:nvSpPr>
        <p:spPr>
          <a:xfrm>
            <a:off x="3566160" y="1645920"/>
            <a:ext cx="2011680" cy="109728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Design day demand into an Erlang C queue model and vendor economics. Output is booths by category.</a:t>
            </a:r>
            <a:endParaRPr lang="en-US" sz="1050" dirty="0"/>
          </a:p>
        </p:txBody>
      </p:sp>
      <p:sp>
        <p:nvSpPr>
          <p:cNvPr id="10" name="Shape 8"/>
          <p:cNvSpPr/>
          <p:nvPr/>
        </p:nvSpPr>
        <p:spPr>
          <a:xfrm>
            <a:off x="5852160" y="1783080"/>
            <a:ext cx="411480" cy="411480"/>
          </a:xfrm>
          <a:prstGeom prst="rightArrow">
            <a:avLst/>
          </a:prstGeom>
          <a:solidFill>
            <a:srgbClr val="D5DDEA"/>
          </a:solidFill>
          <a:ln w="12700">
            <a:solidFill>
              <a:srgbClr val="D5DDEA"/>
            </a:solidFill>
            <a:prstDash val="solid"/>
          </a:ln>
        </p:spPr>
      </p:sp>
      <p:sp>
        <p:nvSpPr>
          <p:cNvPr id="11" name="Shape 9"/>
          <p:cNvSpPr/>
          <p:nvPr/>
        </p:nvSpPr>
        <p:spPr>
          <a:xfrm>
            <a:off x="6400800" y="1188720"/>
            <a:ext cx="2286000" cy="1600200"/>
          </a:xfrm>
          <a:prstGeom prst="roundRect">
            <a:avLst>
              <a:gd name="adj" fmla="val 4571"/>
            </a:avLst>
          </a:prstGeom>
          <a:solidFill>
            <a:srgbClr val="F2B632"/>
          </a:solidFill>
          <a:ln w="12700">
            <a:solidFill>
              <a:srgbClr val="F2B632"/>
            </a:solidFill>
            <a:prstDash val="solid"/>
          </a:ln>
        </p:spPr>
      </p:sp>
      <p:sp>
        <p:nvSpPr>
          <p:cNvPr id="12" name="Text 10"/>
          <p:cNvSpPr txBox="1"/>
          <p:nvPr/>
        </p:nvSpPr>
        <p:spPr>
          <a:xfrm>
            <a:off x="6537960" y="1298448"/>
            <a:ext cx="2011680" cy="320040"/>
          </a:xfrm>
          <a:prstGeom prst="rect">
            <a:avLst/>
          </a:prstGeom>
          <a:noFill/>
          <a:ln/>
        </p:spPr>
        <p:txBody>
          <a:bodyPr wrap="square" lIns="0" tIns="0" rIns="0" bIns="0"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Part 3  Growth</a:t>
            </a:r>
            <a:endParaRPr lang="en-US" sz="1500" dirty="0"/>
          </a:p>
        </p:txBody>
      </p:sp>
      <p:sp>
        <p:nvSpPr>
          <p:cNvPr id="13" name="Text 11"/>
          <p:cNvSpPr txBox="1"/>
          <p:nvPr/>
        </p:nvSpPr>
        <p:spPr>
          <a:xfrm>
            <a:off x="6537960" y="1645920"/>
            <a:ext cx="2011680" cy="1097280"/>
          </a:xfrm>
          <a:prstGeom prst="rect">
            <a:avLst/>
          </a:prstGeom>
          <a:noFill/>
          <a:ln/>
        </p:spPr>
        <p:txBody>
          <a:bodyPr wrap="square" lIns="0" tIns="0" rIns="0" bIns="0" rtlCol="0" anchor="ctr"/>
          <a:lstStyle/>
          <a:p>
            <a:pPr indent="0" marL="0">
              <a:buNone/>
            </a:pPr>
            <a:r>
              <a:rPr lang="en-US" sz="1050" dirty="0">
                <a:solidFill>
                  <a:srgbClr val="0B2545"/>
                </a:solidFill>
                <a:latin typeface="Calibri" pitchFamily="34" charset="0"/>
                <a:ea typeface="Calibri" pitchFamily="34" charset="-122"/>
                <a:cs typeface="Calibri" pitchFamily="34" charset="-120"/>
              </a:rPr>
              <a:t>Load duration view of the season. Output is which option adds capacity where demand fills it.</a:t>
            </a:r>
            <a:endParaRPr lang="en-US" sz="1050" dirty="0"/>
          </a:p>
        </p:txBody>
      </p:sp>
      <p:sp>
        <p:nvSpPr>
          <p:cNvPr id="14" name="Shape 12"/>
          <p:cNvSpPr/>
          <p:nvPr/>
        </p:nvSpPr>
        <p:spPr>
          <a:xfrm>
            <a:off x="457200" y="3017520"/>
            <a:ext cx="8229600" cy="1554480"/>
          </a:xfrm>
          <a:prstGeom prst="roundRect">
            <a:avLst>
              <a:gd name="adj" fmla="val 4706"/>
            </a:avLst>
          </a:prstGeom>
          <a:solidFill>
            <a:srgbClr val="E8EFFA"/>
          </a:solidFill>
          <a:ln w="12700">
            <a:solidFill>
              <a:srgbClr val="E8EFFA"/>
            </a:solidFill>
            <a:prstDash val="solid"/>
          </a:ln>
        </p:spPr>
      </p:sp>
      <p:sp>
        <p:nvSpPr>
          <p:cNvPr id="15" name="Text 13"/>
          <p:cNvSpPr txBox="1"/>
          <p:nvPr/>
        </p:nvSpPr>
        <p:spPr>
          <a:xfrm>
            <a:off x="640080" y="3108960"/>
            <a:ext cx="1828800" cy="274320"/>
          </a:xfrm>
          <a:prstGeom prst="rect">
            <a:avLst/>
          </a:prstGeom>
          <a:noFill/>
          <a:ln/>
        </p:spPr>
        <p:txBody>
          <a:bodyPr wrap="square" lIns="0" tIns="0" rIns="0" bIns="0" rtlCol="0" anchor="ctr"/>
          <a:lstStyle/>
          <a:p>
            <a:pPr indent="0" marL="0">
              <a:buNone/>
            </a:pPr>
            <a:r>
              <a:rPr lang="en-US" sz="1150" b="1" dirty="0">
                <a:solidFill>
                  <a:srgbClr val="1F5FBF"/>
                </a:solidFill>
                <a:latin typeface="Calibri" pitchFamily="34" charset="0"/>
                <a:ea typeface="Calibri" pitchFamily="34" charset="-122"/>
                <a:cs typeface="Calibri" pitchFamily="34" charset="-120"/>
              </a:rPr>
              <a:t>Design day</a:t>
            </a:r>
            <a:endParaRPr lang="en-US" sz="1150" dirty="0"/>
          </a:p>
        </p:txBody>
      </p:sp>
      <p:sp>
        <p:nvSpPr>
          <p:cNvPr id="16" name="Text 14"/>
          <p:cNvSpPr txBox="1"/>
          <p:nvPr/>
        </p:nvSpPr>
        <p:spPr>
          <a:xfrm>
            <a:off x="640080" y="3383280"/>
            <a:ext cx="3840480" cy="1097280"/>
          </a:xfrm>
          <a:prstGeom prst="rect">
            <a:avLst/>
          </a:prstGeom>
          <a:noFill/>
          <a:ln/>
        </p:spPr>
        <p:txBody>
          <a:bodyPr wrap="square" lIns="635" tIns="635" rIns="635" bIns="635" rtlCol="0" anchor="t"/>
          <a:lstStyle/>
          <a:p>
            <a:pPr indent="0" marL="0">
              <a:buNone/>
            </a:pPr>
            <a:r>
              <a:rPr lang="en-US" sz="1050" dirty="0">
                <a:solidFill>
                  <a:srgbClr val="1B1B1B"/>
                </a:solidFill>
                <a:latin typeface="Calibri" pitchFamily="34" charset="0"/>
                <a:ea typeface="Calibri" pitchFamily="34" charset="-122"/>
                <a:cs typeface="Calibri" pitchFamily="34" charset="-120"/>
              </a:rPr>
              <a:t>The specific high demand day capacity is sized around. We use the expected busiest Saturday rather than the single worst hour, so booths and staffing are built for the day that recurs.</a:t>
            </a:r>
            <a:endParaRPr lang="en-US" sz="1050" dirty="0"/>
          </a:p>
        </p:txBody>
      </p:sp>
      <p:sp>
        <p:nvSpPr>
          <p:cNvPr id="17" name="Text 15"/>
          <p:cNvSpPr txBox="1"/>
          <p:nvPr/>
        </p:nvSpPr>
        <p:spPr>
          <a:xfrm>
            <a:off x="4754880" y="3108960"/>
            <a:ext cx="2743200" cy="274320"/>
          </a:xfrm>
          <a:prstGeom prst="rect">
            <a:avLst/>
          </a:prstGeom>
          <a:noFill/>
          <a:ln/>
        </p:spPr>
        <p:txBody>
          <a:bodyPr wrap="square" lIns="0" tIns="0" rIns="0" bIns="0" rtlCol="0" anchor="ctr"/>
          <a:lstStyle/>
          <a:p>
            <a:pPr indent="0" marL="0">
              <a:buNone/>
            </a:pPr>
            <a:r>
              <a:rPr lang="en-US" sz="1150" b="1" dirty="0">
                <a:solidFill>
                  <a:srgbClr val="1F5FBF"/>
                </a:solidFill>
                <a:latin typeface="Calibri" pitchFamily="34" charset="0"/>
                <a:ea typeface="Calibri" pitchFamily="34" charset="-122"/>
                <a:cs typeface="Calibri" pitchFamily="34" charset="-120"/>
              </a:rPr>
              <a:t>Assumption register</a:t>
            </a:r>
            <a:endParaRPr lang="en-US" sz="1150" dirty="0"/>
          </a:p>
        </p:txBody>
      </p:sp>
      <p:sp>
        <p:nvSpPr>
          <p:cNvPr id="18" name="Text 16"/>
          <p:cNvSpPr txBox="1"/>
          <p:nvPr/>
        </p:nvSpPr>
        <p:spPr>
          <a:xfrm>
            <a:off x="4754880" y="3383280"/>
            <a:ext cx="3749040" cy="1097280"/>
          </a:xfrm>
          <a:prstGeom prst="rect">
            <a:avLst/>
          </a:prstGeom>
          <a:noFill/>
          <a:ln/>
        </p:spPr>
        <p:txBody>
          <a:bodyPr wrap="square" lIns="635" tIns="635" rIns="635" bIns="635" rtlCol="0" anchor="t"/>
          <a:lstStyle/>
          <a:p>
            <a:pPr indent="0" marL="0">
              <a:buNone/>
            </a:pPr>
            <a:r>
              <a:rPr lang="en-US" sz="1050" dirty="0">
                <a:solidFill>
                  <a:srgbClr val="1B1B1B"/>
                </a:solidFill>
                <a:latin typeface="Calibri" pitchFamily="34" charset="0"/>
                <a:ea typeface="Calibri" pitchFamily="34" charset="-122"/>
                <a:cs typeface="Calibri" pitchFamily="34" charset="-120"/>
              </a:rPr>
              <a:t>Every input carries a source and a low, base and high value, in the appendix and in the Excel workbook. Where two methods disagree, the deck shows both and picks the overlap.</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0B2545"/>
                </a:solidFill>
                <a:latin typeface="Cambria" pitchFamily="34" charset="0"/>
                <a:ea typeface="Cambria" pitchFamily="34" charset="-122"/>
                <a:cs typeface="Cambria" pitchFamily="34" charset="-120"/>
              </a:rPr>
              <a:t>Every factor, its direction, and where it is modeled</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6858000" cy="914400"/>
        </p:xfrm>
        <a:graphic>
          <a:graphicData uri="http://schemas.openxmlformats.org/drawingml/2006/table">
            <a:tbl>
              <a:tblPr/>
              <a:tblGrid>
                <a:gridCol w="2651760"/>
                <a:gridCol w="868680"/>
                <a:gridCol w="1737360"/>
                <a:gridCol w="2971800"/>
              </a:tblGrid>
              <a:tr h="0">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Factor</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Direction</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Size in 2026 (visits)</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Where it lives</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r>
              <a:tr h="0">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Organic trend (2023 to 2025 momentum)</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up</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+2,600</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Baseline: five methods, holdout, combination</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Marketing spend +20%, local budget held</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up</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+280</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Reach: elasticity 0.12, effective frequency</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Reach 500k to 1.2M residents</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up</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+2,000 (1,000 to 4,500)</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Capture and Reach: four methods</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25th anniversary</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up</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+2,000</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Anniversary: comps and four channels</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Weekend 4 concert (about a 10M act)</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up</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+800 incremental, +100 shifted</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Concert: listener funnel</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Gas at $4.49, +25% y/y (outer ring trips)</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down</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-692</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Macro: trip fuel elasticity</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Staycation substitution (weak sentiment)</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up</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+392</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Macro: 2009 fair evidence</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Sentiment near record low</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down</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-168</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Macro: small drag, spending still growing</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Inflation, real spend per guest</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down on spend</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−4% per cap</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Part 2 sales per booth, Part 3 revenue per guest</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Cost inflation (4.6% expected)</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down on margin</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+4.6% on 2027 labor</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Part 3 option costs</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Weather</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down skew</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-4,127 to +282</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Simulation: multiplier 0.90 to 1.02</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Saturday share, distance decay, no-shows</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shape</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split and caps</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Weekends, Capture, Concert</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2021 to 2022 pandemic regime</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excluded</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down-weighted in trend</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Baseline: recent-regime weights</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681728"/>
            <a:ext cx="8229600" cy="347472"/>
          </a:xfrm>
          <a:prstGeom prst="rect">
            <a:avLst/>
          </a:prstGeom>
          <a:noFill/>
          <a:ln/>
        </p:spPr>
        <p:txBody>
          <a:bodyPr wrap="square" lIns="0" tIns="0" rIns="0" bIns="0" rtlCol="0" anchor="b"/>
          <a:lstStyle/>
          <a:p>
            <a:pPr indent="0" marL="0">
              <a:buNone/>
            </a:pPr>
            <a:r>
              <a:rPr lang="en-US" sz="800" dirty="0">
                <a:solidFill>
                  <a:srgbClr val="5B6470"/>
                </a:solidFill>
                <a:latin typeface="Calibri" pitchFamily="34" charset="0"/>
                <a:ea typeface="Calibri" pitchFamily="34" charset="-122"/>
                <a:cs typeface="Calibri" pitchFamily="34" charset="-120"/>
              </a:rPr>
              <a:t>Sizes are base-case deltas from the bridge and macro model (results.json). Macro readings: UMich sentiment 48.1 (Sept 2026) vs 55.1; AAA gasoline $4.49 on Sept 25 2026; UMich one-year inflation expectations 4.6%.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0B2545"/>
                </a:solidFill>
                <a:latin typeface="Cambria" pitchFamily="34" charset="0"/>
                <a:ea typeface="Cambria" pitchFamily="34" charset="-122"/>
                <a:cs typeface="Cambria" pitchFamily="34" charset="-120"/>
              </a:rPr>
              <a:t>Organic trend alone puts 2026 near 58,600</a:t>
            </a:r>
            <a:endParaRPr lang="en-US" sz="2400" dirty="0"/>
          </a:p>
        </p:txBody>
      </p:sp>
      <p:graphicFrame>
        <p:nvGraphicFramePr>
          <p:cNvPr id="3" name="Chart 0" descr=""/>
          <p:cNvGraphicFramePr/>
          <p:nvPr/>
        </p:nvGraphicFramePr>
        <p:xfrm>
          <a:off x="457200" y="1097280"/>
          <a:ext cx="420624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937760" y="1097280"/>
          <a:ext cx="6858000" cy="914400"/>
        </p:xfrm>
        <a:graphic>
          <a:graphicData uri="http://schemas.openxmlformats.org/drawingml/2006/table">
            <a:tbl>
              <a:tblPr/>
              <a:tblGrid>
                <a:gridCol w="1965960"/>
                <a:gridCol w="685800"/>
                <a:gridCol w="1325880"/>
              </a:tblGrid>
              <a:tr h="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Method</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2026</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Holdout miss on 2025</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r>
              <a:tr h="0">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A. Linear trend, all years</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57,100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-3.6%</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B. Log linear (3.7% CAGR)</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57,262</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-3.5%</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C. Linear, 2023 to 2025</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59,167</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-0.6%</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D. Log linear, 2023 to 2025</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59,482</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-0.3%</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E. Holt smoothing</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58,889</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-6.5%</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1B1B1B"/>
                          </a:solidFill>
                          <a:latin typeface="Calibri" pitchFamily="34" charset="0"/>
                          <a:ea typeface="Calibri" pitchFamily="34" charset="-122"/>
                          <a:cs typeface="Calibri" pitchFamily="34" charset="-120"/>
                        </a:rPr>
                        <a:t>Combined (15/15/25/20/25)</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b="1" dirty="0">
                          <a:solidFill>
                            <a:srgbClr val="1F5FBF"/>
                          </a:solidFill>
                          <a:latin typeface="Calibri" pitchFamily="34" charset="0"/>
                          <a:ea typeface="Calibri" pitchFamily="34" charset="-122"/>
                          <a:cs typeface="Calibri" pitchFamily="34" charset="-120"/>
                        </a:rPr>
                        <a:t>58,565</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b="1" dirty="0">
                          <a:solidFill>
                            <a:srgbClr val="1B1B1B"/>
                          </a:solidFill>
                          <a:latin typeface="Calibri" pitchFamily="34" charset="0"/>
                          <a:ea typeface="Calibri" pitchFamily="34" charset="-122"/>
                          <a:cs typeface="Calibri" pitchFamily="34" charset="-120"/>
                        </a:rPr>
                        <a:t>80% interval 53,857 to 60,343</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937760" y="3246120"/>
            <a:ext cx="3749040" cy="1280160"/>
          </a:xfrm>
          <a:prstGeom prst="rect">
            <a:avLst/>
          </a:prstGeom>
          <a:noFill/>
          <a:ln/>
        </p:spPr>
        <p:txBody>
          <a:bodyPr wrap="square" lIns="635" tIns="635" rIns="635" bIns="635" rtlCol="0" anchor="t"/>
          <a:lstStyle/>
          <a:p>
            <a:pPr marL="152400" indent="-152400">
              <a:spcAft>
                <a:spcPts val="500"/>
              </a:spcAft>
              <a:buSzPct val="100000"/>
              <a:buChar char="•"/>
            </a:pPr>
            <a:r>
              <a:rPr lang="en-US" sz="1000" dirty="0">
                <a:solidFill>
                  <a:srgbClr val="1B1B1B"/>
                </a:solidFill>
                <a:latin typeface="Calibri" pitchFamily="34" charset="0"/>
                <a:ea typeface="Calibri" pitchFamily="34" charset="-122"/>
                <a:cs typeface="Calibri" pitchFamily="34" charset="-120"/>
              </a:rPr>
              <a:t>2021 and 2022 are a pandemic regime, not the trend. Summerfest was still 38 percent below 2019 in 2022.</a:t>
            </a:r>
            <a:endParaRPr lang="en-US" sz="1000" dirty="0"/>
          </a:p>
          <a:p>
            <a:pPr marL="152400" indent="-152400">
              <a:spcAft>
                <a:spcPts val="500"/>
              </a:spcAft>
              <a:buSzPct val="100000"/>
              <a:buChar char="•"/>
            </a:pPr>
            <a:r>
              <a:rPr lang="en-US" sz="1000" dirty="0">
                <a:solidFill>
                  <a:srgbClr val="1B1B1B"/>
                </a:solidFill>
                <a:latin typeface="Calibri" pitchFamily="34" charset="0"/>
                <a:ea typeface="Calibri" pitchFamily="34" charset="-122"/>
                <a:cs typeface="Calibri" pitchFamily="34" charset="-120"/>
              </a:rPr>
              <a:t>Every method under forecast 2024 and 2025, so growth is accelerating and recent years get more weight.</a:t>
            </a:r>
            <a:endParaRPr lang="en-US" sz="1000" dirty="0"/>
          </a:p>
        </p:txBody>
      </p:sp>
      <p:sp>
        <p:nvSpPr>
          <p:cNvPr id="6" name="Text 2"/>
          <p:cNvSpPr txBox="1"/>
          <p:nvPr/>
        </p:nvSpPr>
        <p:spPr>
          <a:xfrm>
            <a:off x="457200" y="4681728"/>
            <a:ext cx="8229600" cy="347472"/>
          </a:xfrm>
          <a:prstGeom prst="rect">
            <a:avLst/>
          </a:prstGeom>
          <a:noFill/>
          <a:ln/>
        </p:spPr>
        <p:txBody>
          <a:bodyPr wrap="square" lIns="0" tIns="0" rIns="0" bIns="0" rtlCol="0" anchor="b"/>
          <a:lstStyle/>
          <a:p>
            <a:pPr indent="0" marL="0">
              <a:buNone/>
            </a:pPr>
            <a:r>
              <a:rPr lang="en-US" sz="800" dirty="0">
                <a:solidFill>
                  <a:srgbClr val="5B6470"/>
                </a:solidFill>
                <a:latin typeface="Calibri" pitchFamily="34" charset="0"/>
                <a:ea typeface="Calibri" pitchFamily="34" charset="-122"/>
                <a:cs typeface="Calibri" pitchFamily="34" charset="-120"/>
              </a:rPr>
              <a:t>Holdout: hide 2025, forecast it from 2021 to 2024, compare. Regime evidence: BizTimes, Summerfest attendance 2022 and 2023. Code: src/festival/baseline.py; workbook sheet Baseline.</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0B2545"/>
                </a:solidFill>
                <a:latin typeface="Cambria" pitchFamily="34" charset="0"/>
                <a:ea typeface="Cambria" pitchFamily="34" charset="-122"/>
                <a:cs typeface="Cambria" pitchFamily="34" charset="-120"/>
              </a:rPr>
              <a:t>Where guests come from: 70 percent local, 25 percent neighboring</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6858000" cy="914400"/>
        </p:xfrm>
        <a:graphic>
          <a:graphicData uri="http://schemas.openxmlformats.org/drawingml/2006/table">
            <a:tbl>
              <a:tblPr/>
              <a:tblGrid>
                <a:gridCol w="2103120"/>
                <a:gridCol w="914400"/>
                <a:gridCol w="1234440"/>
                <a:gridCol w="777240"/>
                <a:gridCol w="914400"/>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Ring</a:t>
                      </a:r>
                      <a:endParaRPr lang="en-US" sz="9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Population</a:t>
                      </a:r>
                      <a:endParaRPr lang="en-US" sz="9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Share of 2025 visits</a:t>
                      </a:r>
                      <a:endParaRPr lang="en-US" sz="9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Visits</a:t>
                      </a:r>
                      <a:endParaRPr lang="en-US" sz="9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Capture rate</a:t>
                      </a:r>
                      <a:endParaRPr lang="en-US" sz="9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r>
              <a:tr h="0">
                <a:tc>
                  <a:txBody>
                    <a:bodyPr/>
                    <a:lstStyle/>
                    <a:p>
                      <a:pPr indent="0" marL="0">
                        <a:buNone/>
                      </a:pPr>
                      <a:r>
                        <a:rPr lang="en-US" sz="950" dirty="0">
                          <a:solidFill>
                            <a:srgbClr val="1B1B1B"/>
                          </a:solidFill>
                          <a:latin typeface="Calibri" pitchFamily="34" charset="0"/>
                          <a:ea typeface="Calibri" pitchFamily="34" charset="-122"/>
                          <a:cs typeface="Calibri" pitchFamily="34" charset="-120"/>
                        </a:rPr>
                        <a:t>Local metro (advertised)</a:t>
                      </a:r>
                      <a:endParaRPr lang="en-US" sz="9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50" dirty="0">
                          <a:solidFill>
                            <a:srgbClr val="1B1B1B"/>
                          </a:solidFill>
                          <a:latin typeface="Calibri" pitchFamily="34" charset="0"/>
                          <a:ea typeface="Calibri" pitchFamily="34" charset="-122"/>
                          <a:cs typeface="Calibri" pitchFamily="34" charset="-120"/>
                        </a:rPr>
                        <a:t>500,000</a:t>
                      </a:r>
                      <a:endParaRPr lang="en-US" sz="9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50" dirty="0">
                          <a:solidFill>
                            <a:srgbClr val="1B1B1B"/>
                          </a:solidFill>
                          <a:latin typeface="Calibri" pitchFamily="34" charset="0"/>
                          <a:ea typeface="Calibri" pitchFamily="34" charset="-122"/>
                          <a:cs typeface="Calibri" pitchFamily="34" charset="-120"/>
                        </a:rPr>
                        <a:t>70%</a:t>
                      </a:r>
                      <a:endParaRPr lang="en-US" sz="9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50" dirty="0">
                          <a:solidFill>
                            <a:srgbClr val="1B1B1B"/>
                          </a:solidFill>
                          <a:latin typeface="Calibri" pitchFamily="34" charset="0"/>
                          <a:ea typeface="Calibri" pitchFamily="34" charset="-122"/>
                          <a:cs typeface="Calibri" pitchFamily="34" charset="-120"/>
                        </a:rPr>
                        <a:t>39,200</a:t>
                      </a:r>
                      <a:endParaRPr lang="en-US" sz="9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50" b="1" dirty="0">
                          <a:solidFill>
                            <a:srgbClr val="1F5FBF"/>
                          </a:solidFill>
                          <a:latin typeface="Calibri" pitchFamily="34" charset="0"/>
                          <a:ea typeface="Calibri" pitchFamily="34" charset="-122"/>
                          <a:cs typeface="Calibri" pitchFamily="34" charset="-120"/>
                        </a:rPr>
                        <a:t>7.8%</a:t>
                      </a:r>
                      <a:endParaRPr lang="en-US" sz="9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B1B1B"/>
                          </a:solidFill>
                          <a:latin typeface="Calibri" pitchFamily="34" charset="0"/>
                          <a:ea typeface="Calibri" pitchFamily="34" charset="-122"/>
                          <a:cs typeface="Calibri" pitchFamily="34" charset="-120"/>
                        </a:rPr>
                        <a:t>Neighboring metros (new reach)</a:t>
                      </a:r>
                      <a:endParaRPr lang="en-US" sz="9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50" dirty="0">
                          <a:solidFill>
                            <a:srgbClr val="1B1B1B"/>
                          </a:solidFill>
                          <a:latin typeface="Calibri" pitchFamily="34" charset="0"/>
                          <a:ea typeface="Calibri" pitchFamily="34" charset="-122"/>
                          <a:cs typeface="Calibri" pitchFamily="34" charset="-120"/>
                        </a:rPr>
                        <a:t>700,000</a:t>
                      </a:r>
                      <a:endParaRPr lang="en-US" sz="9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50" dirty="0">
                          <a:solidFill>
                            <a:srgbClr val="1B1B1B"/>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50" dirty="0">
                          <a:solidFill>
                            <a:srgbClr val="1B1B1B"/>
                          </a:solidFill>
                          <a:latin typeface="Calibri" pitchFamily="34" charset="0"/>
                          <a:ea typeface="Calibri" pitchFamily="34" charset="-122"/>
                          <a:cs typeface="Calibri" pitchFamily="34" charset="-120"/>
                        </a:rPr>
                        <a:t>14,000</a:t>
                      </a:r>
                      <a:endParaRPr lang="en-US" sz="9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50" b="1" dirty="0">
                          <a:solidFill>
                            <a:srgbClr val="1F5FBF"/>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B1B1B"/>
                          </a:solidFill>
                          <a:latin typeface="Calibri" pitchFamily="34" charset="0"/>
                          <a:ea typeface="Calibri" pitchFamily="34" charset="-122"/>
                          <a:cs typeface="Calibri" pitchFamily="34" charset="-120"/>
                        </a:rPr>
                        <a:t>Beyond the reach area</a:t>
                      </a:r>
                      <a:endParaRPr lang="en-US" sz="9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50" dirty="0">
                          <a:solidFill>
                            <a:srgbClr val="1B1B1B"/>
                          </a:solidFill>
                          <a:latin typeface="Calibri" pitchFamily="34" charset="0"/>
                          <a:ea typeface="Calibri" pitchFamily="34" charset="-122"/>
                          <a:cs typeface="Calibri" pitchFamily="34" charset="-120"/>
                        </a:rPr>
                        <a:t>n/a</a:t>
                      </a:r>
                      <a:endParaRPr lang="en-US" sz="9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50" dirty="0">
                          <a:solidFill>
                            <a:srgbClr val="1B1B1B"/>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50" dirty="0">
                          <a:solidFill>
                            <a:srgbClr val="1B1B1B"/>
                          </a:solidFill>
                          <a:latin typeface="Calibri" pitchFamily="34" charset="0"/>
                          <a:ea typeface="Calibri" pitchFamily="34" charset="-122"/>
                          <a:cs typeface="Calibri" pitchFamily="34" charset="-120"/>
                        </a:rPr>
                        <a:t>2,800</a:t>
                      </a:r>
                      <a:endParaRPr lang="en-US" sz="9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50" dirty="0">
                          <a:solidFill>
                            <a:srgbClr val="1B1B1B"/>
                          </a:solidFill>
                          <a:latin typeface="Calibri" pitchFamily="34" charset="0"/>
                          <a:ea typeface="Calibri" pitchFamily="34" charset="-122"/>
                          <a:cs typeface="Calibri" pitchFamily="34" charset="-120"/>
                        </a:rPr>
                        <a:t>n/a</a:t>
                      </a:r>
                      <a:endParaRPr lang="en-US" sz="9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bl>
          </a:graphicData>
        </a:graphic>
      </p:graphicFrame>
      <p:graphicFrame>
        <p:nvGraphicFramePr>
          <p:cNvPr id="4" name="Chart 0" descr=""/>
          <p:cNvGraphicFramePr/>
          <p:nvPr/>
        </p:nvGraphicFramePr>
        <p:xfrm>
          <a:off x="6583680" y="1097280"/>
          <a:ext cx="2103120" cy="182880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457200" y="2606040"/>
            <a:ext cx="5852160" cy="2011680"/>
          </a:xfrm>
          <a:prstGeom prst="roundRect">
            <a:avLst>
              <a:gd name="adj" fmla="val 3636"/>
            </a:avLst>
          </a:prstGeom>
          <a:solidFill>
            <a:srgbClr val="E8EFFA"/>
          </a:solidFill>
          <a:ln w="12700">
            <a:solidFill>
              <a:srgbClr val="E8EFFA"/>
            </a:solidFill>
            <a:prstDash val="solid"/>
          </a:ln>
        </p:spPr>
      </p:sp>
      <p:sp>
        <p:nvSpPr>
          <p:cNvPr id="6" name="Text 2"/>
          <p:cNvSpPr txBox="1"/>
          <p:nvPr/>
        </p:nvSpPr>
        <p:spPr>
          <a:xfrm>
            <a:off x="548640" y="2697480"/>
            <a:ext cx="5669280" cy="1874520"/>
          </a:xfrm>
          <a:prstGeom prst="rect">
            <a:avLst/>
          </a:prstGeom>
          <a:noFill/>
          <a:ln/>
        </p:spPr>
        <p:txBody>
          <a:bodyPr wrap="square" lIns="635" tIns="635" rIns="635" bIns="635" rtlCol="0" anchor="t"/>
          <a:lstStyle/>
          <a:p>
            <a:pPr marL="152400" indent="-152400">
              <a:spcAft>
                <a:spcPts val="500"/>
              </a:spcAft>
              <a:buSzPct val="100000"/>
              <a:buChar char="•"/>
            </a:pPr>
            <a:r>
              <a:rPr lang="en-US" sz="1000" dirty="0">
                <a:solidFill>
                  <a:srgbClr val="1B1B1B"/>
                </a:solidFill>
                <a:latin typeface="Calibri" pitchFamily="34" charset="0"/>
                <a:ea typeface="Calibri" pitchFamily="34" charset="-122"/>
                <a:cs typeface="Calibri" pitchFamily="34" charset="-120"/>
              </a:rPr>
              <a:t>Capture rate is visits divided by ring population. The festival already draws from the neighboring ring with no paid media there, through word of mouth and spillover.</a:t>
            </a:r>
            <a:endParaRPr lang="en-US" sz="1000" dirty="0"/>
          </a:p>
          <a:p>
            <a:pPr marL="152400" indent="-152400">
              <a:spcAft>
                <a:spcPts val="500"/>
              </a:spcAft>
              <a:buSzPct val="100000"/>
              <a:buChar char="•"/>
            </a:pPr>
            <a:r>
              <a:rPr lang="en-US" sz="1000" dirty="0">
                <a:solidFill>
                  <a:srgbClr val="1B1B1B"/>
                </a:solidFill>
                <a:latin typeface="Calibri" pitchFamily="34" charset="0"/>
                <a:ea typeface="Calibri" pitchFamily="34" charset="-122"/>
                <a:cs typeface="Calibri" pitchFamily="34" charset="-120"/>
              </a:rPr>
              <a:t>The outer to local ratio of 0.26 is what a gravity model predicts at a distance exponent near 1.5 (Esri Huff range 1.5 to 2.0). Distance, not awareness alone, explains most of the gap.</a:t>
            </a:r>
            <a:endParaRPr lang="en-US" sz="1000" dirty="0"/>
          </a:p>
          <a:p>
            <a:pPr marL="152400" indent="-152400">
              <a:spcAft>
                <a:spcPts val="500"/>
              </a:spcAft>
              <a:buSzPct val="100000"/>
              <a:buChar char="•"/>
            </a:pPr>
            <a:r>
              <a:rPr lang="en-US" sz="1000" dirty="0">
                <a:solidFill>
                  <a:srgbClr val="1B1B1B"/>
                </a:solidFill>
                <a:latin typeface="Calibri" pitchFamily="34" charset="0"/>
                <a:ea typeface="Calibri" pitchFamily="34" charset="-122"/>
                <a:cs typeface="Calibri" pitchFamily="34" charset="-120"/>
              </a:rPr>
              <a:t>So the reach expansion lifts awareness in a market where word of mouth is already running, not a blank market. That matters for how fast it responds.</a:t>
            </a:r>
            <a:endParaRPr lang="en-US" sz="1000" dirty="0"/>
          </a:p>
        </p:txBody>
      </p:sp>
      <p:sp>
        <p:nvSpPr>
          <p:cNvPr id="7" name="Text 3"/>
          <p:cNvSpPr txBox="1"/>
          <p:nvPr/>
        </p:nvSpPr>
        <p:spPr>
          <a:xfrm>
            <a:off x="6492240" y="3017520"/>
            <a:ext cx="2194560" cy="1554480"/>
          </a:xfrm>
          <a:prstGeom prst="rect">
            <a:avLst/>
          </a:prstGeom>
          <a:noFill/>
          <a:ln/>
        </p:spPr>
        <p:txBody>
          <a:bodyPr wrap="square" lIns="635" tIns="635" rIns="635" bIns="635" rtlCol="0" anchor="t"/>
          <a:lstStyle/>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Ceiling at full awareness: 3.1% outer capture, 21,500 visits.</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Origin split is an assumption. A zip code intercept survey at the gate replaces it in one season.</a:t>
            </a:r>
            <a:endParaRPr lang="en-US" sz="950" dirty="0"/>
          </a:p>
        </p:txBody>
      </p:sp>
      <p:sp>
        <p:nvSpPr>
          <p:cNvPr id="8" name="Text 4"/>
          <p:cNvSpPr txBox="1"/>
          <p:nvPr/>
        </p:nvSpPr>
        <p:spPr>
          <a:xfrm>
            <a:off x="457200" y="4681728"/>
            <a:ext cx="8229600" cy="347472"/>
          </a:xfrm>
          <a:prstGeom prst="rect">
            <a:avLst/>
          </a:prstGeom>
          <a:noFill/>
          <a:ln/>
        </p:spPr>
        <p:txBody>
          <a:bodyPr wrap="square" lIns="0" tIns="0" rIns="0" bIns="0" rtlCol="0" anchor="b"/>
          <a:lstStyle/>
          <a:p>
            <a:pPr indent="0" marL="0">
              <a:buNone/>
            </a:pPr>
            <a:r>
              <a:rPr lang="en-US" sz="800" dirty="0">
                <a:solidFill>
                  <a:srgbClr val="5B6470"/>
                </a:solidFill>
                <a:latin typeface="Calibri" pitchFamily="34" charset="0"/>
                <a:ea typeface="Calibri" pitchFamily="34" charset="-122"/>
                <a:cs typeface="Calibri" pitchFamily="34" charset="-120"/>
              </a:rPr>
              <a:t>Local share 70% matches verified surveys: Bolton Food and Drink Festival 72% local postcode; Big Sur Food and Wine 70% Monterey County. Promoter claims of 60 to 80% out of region are rarely verified (Stratford Analytics). Exponent: Esri Huff model documentation. Sheet Capture; capture.py.</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0B2545"/>
                </a:solidFill>
                <a:latin typeface="Cambria" pitchFamily="34" charset="0"/>
                <a:ea typeface="Cambria" pitchFamily="34" charset="-122"/>
                <a:cs typeface="Cambria" pitchFamily="34" charset="-120"/>
              </a:rPr>
              <a:t>Marketing and reach: about 2,000 new visits</a:t>
            </a:r>
            <a:endParaRPr lang="en-US" sz="2400" dirty="0"/>
          </a:p>
        </p:txBody>
      </p:sp>
      <p:sp>
        <p:nvSpPr>
          <p:cNvPr id="3" name="Shape 1"/>
          <p:cNvSpPr/>
          <p:nvPr/>
        </p:nvSpPr>
        <p:spPr>
          <a:xfrm>
            <a:off x="457200" y="1097280"/>
            <a:ext cx="3931920" cy="3520440"/>
          </a:xfrm>
          <a:prstGeom prst="roundRect">
            <a:avLst>
              <a:gd name="adj" fmla="val 2078"/>
            </a:avLst>
          </a:prstGeom>
          <a:solidFill>
            <a:srgbClr val="E8EFFA"/>
          </a:solidFill>
          <a:ln w="12700">
            <a:solidFill>
              <a:srgbClr val="E8EFFA"/>
            </a:solidFill>
            <a:prstDash val="solid"/>
          </a:ln>
        </p:spPr>
      </p:sp>
      <p:sp>
        <p:nvSpPr>
          <p:cNvPr id="4" name="Text 2"/>
          <p:cNvSpPr txBox="1"/>
          <p:nvPr/>
        </p:nvSpPr>
        <p:spPr>
          <a:xfrm>
            <a:off x="594360" y="1188720"/>
            <a:ext cx="3657600" cy="274320"/>
          </a:xfrm>
          <a:prstGeom prst="rect">
            <a:avLst/>
          </a:prstGeom>
          <a:noFill/>
          <a:ln/>
        </p:spPr>
        <p:txBody>
          <a:bodyPr wrap="square" lIns="0" tIns="0" rIns="0" bIns="0" rtlCol="0" anchor="ctr"/>
          <a:lstStyle/>
          <a:p>
            <a:pPr indent="0" marL="0">
              <a:buNone/>
            </a:pPr>
            <a:r>
              <a:rPr lang="en-US" sz="1150" b="1" dirty="0">
                <a:solidFill>
                  <a:srgbClr val="1F5FBF"/>
                </a:solidFill>
                <a:latin typeface="Calibri" pitchFamily="34" charset="0"/>
                <a:ea typeface="Calibri" pitchFamily="34" charset="-122"/>
                <a:cs typeface="Calibri" pitchFamily="34" charset="-120"/>
              </a:rPr>
              <a:t>The dilution arithmetic</a:t>
            </a:r>
            <a:endParaRPr lang="en-US" sz="1150" dirty="0"/>
          </a:p>
        </p:txBody>
      </p:sp>
      <p:sp>
        <p:nvSpPr>
          <p:cNvPr id="5" name="Text 3"/>
          <p:cNvSpPr txBox="1"/>
          <p:nvPr/>
        </p:nvSpPr>
        <p:spPr>
          <a:xfrm>
            <a:off x="548640" y="1508760"/>
            <a:ext cx="3749040" cy="3063240"/>
          </a:xfrm>
          <a:prstGeom prst="rect">
            <a:avLst/>
          </a:prstGeom>
          <a:noFill/>
          <a:ln/>
        </p:spPr>
        <p:txBody>
          <a:bodyPr wrap="square" lIns="635" tIns="635" rIns="635" bIns="635" rtlCol="0" anchor="t"/>
          <a:lstStyle/>
          <a:p>
            <a:pPr marL="152400" indent="-152400">
              <a:spcAft>
                <a:spcPts val="500"/>
              </a:spcAft>
              <a:buSzPct val="100000"/>
              <a:buChar char="•"/>
            </a:pPr>
            <a:r>
              <a:rPr lang="en-US" sz="1000" dirty="0">
                <a:solidFill>
                  <a:srgbClr val="1B1B1B"/>
                </a:solidFill>
                <a:latin typeface="Calibri" pitchFamily="34" charset="0"/>
                <a:ea typeface="Calibri" pitchFamily="34" charset="-122"/>
                <a:cs typeface="Calibri" pitchFamily="34" charset="-120"/>
              </a:rPr>
              <a:t>Money up 1.2x, audience up 2.4x. Spread evenly, spend per person reached falls by half.</a:t>
            </a:r>
            <a:endParaRPr lang="en-US" sz="1000" dirty="0"/>
          </a:p>
          <a:p>
            <a:pPr marL="152400" indent="-152400">
              <a:spcAft>
                <a:spcPts val="500"/>
              </a:spcAft>
              <a:buSzPct val="100000"/>
              <a:buChar char="•"/>
            </a:pPr>
            <a:r>
              <a:rPr lang="en-US" sz="1000" dirty="0">
                <a:solidFill>
                  <a:srgbClr val="1B1B1B"/>
                </a:solidFill>
                <a:latin typeface="Calibri" pitchFamily="34" charset="0"/>
                <a:ea typeface="Calibri" pitchFamily="34" charset="-122"/>
                <a:cs typeface="Calibri" pitchFamily="34" charset="-120"/>
              </a:rPr>
              <a:t>Reading A, local budget held and new money outward: local spillover +0.5 percent, about 280 visits.</a:t>
            </a:r>
            <a:endParaRPr lang="en-US" sz="1000" dirty="0"/>
          </a:p>
          <a:p>
            <a:pPr marL="152400" indent="-152400">
              <a:spcAft>
                <a:spcPts val="500"/>
              </a:spcAft>
              <a:buSzPct val="100000"/>
              <a:buChar char="•"/>
            </a:pPr>
            <a:r>
              <a:rPr lang="en-US" sz="1000" dirty="0">
                <a:solidFill>
                  <a:srgbClr val="1B1B1B"/>
                </a:solidFill>
                <a:latin typeface="Calibri" pitchFamily="34" charset="0"/>
                <a:ea typeface="Calibri" pitchFamily="34" charset="-122"/>
                <a:cs typeface="Calibri" pitchFamily="34" charset="-120"/>
              </a:rPr>
              <a:t>Reading B, spread evenly: elasticity 0.12 times minus 50 percent intensity is minus 6 percent locally, about -3,360. Reading A wins by roughly 2,400 visits.</a:t>
            </a:r>
            <a:endParaRPr lang="en-US" sz="1000" dirty="0"/>
          </a:p>
          <a:p>
            <a:pPr marL="152400" indent="-152400">
              <a:spcAft>
                <a:spcPts val="500"/>
              </a:spcAft>
              <a:buSzPct val="100000"/>
              <a:buChar char="•"/>
            </a:pPr>
            <a:r>
              <a:rPr lang="en-US" sz="1000" dirty="0">
                <a:solidFill>
                  <a:srgbClr val="1B1B1B"/>
                </a:solidFill>
                <a:latin typeface="Calibri" pitchFamily="34" charset="0"/>
                <a:ea typeface="Calibri" pitchFamily="34" charset="-122"/>
                <a:cs typeface="Calibri" pitchFamily="34" charset="-120"/>
              </a:rPr>
              <a:t>Effective frequency research (Krugman 1972, Naples 1979) says ads need repeated exposure before they work. Hold the local budget and flight the new money into the three weeks before Weekend 1.</a:t>
            </a:r>
            <a:endParaRPr lang="en-US" sz="1000" dirty="0"/>
          </a:p>
        </p:txBody>
      </p:sp>
      <p:graphicFrame>
        <p:nvGraphicFramePr>
          <p:cNvPr id="6" name="Chart 0" descr=""/>
          <p:cNvGraphicFramePr/>
          <p:nvPr/>
        </p:nvGraphicFramePr>
        <p:xfrm>
          <a:off x="4572000" y="1097280"/>
          <a:ext cx="4114800" cy="22860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4572000" y="3429000"/>
            <a:ext cx="4114800" cy="1188720"/>
          </a:xfrm>
          <a:prstGeom prst="rect">
            <a:avLst/>
          </a:prstGeom>
          <a:noFill/>
          <a:ln/>
        </p:spPr>
        <p:txBody>
          <a:bodyPr wrap="square" lIns="635" tIns="635" rIns="635" bIns="635" rtlCol="0" anchor="t"/>
          <a:lstStyle/>
          <a:p>
            <a:pPr indent="0" marL="0">
              <a:buNone/>
            </a:pPr>
            <a:r>
              <a:rPr lang="en-US" sz="1000" dirty="0">
                <a:solidFill>
                  <a:srgbClr val="1B1B1B"/>
                </a:solidFill>
                <a:latin typeface="Calibri" pitchFamily="34" charset="0"/>
                <a:ea typeface="Calibri" pitchFamily="34" charset="-122"/>
                <a:cs typeface="Calibri" pitchFamily="34" charset="-120"/>
              </a:rPr>
              <a:t>Four methods bracket the new market lift (high ends shown). Ranges: elasticity 1,344 to 2,688; funnel 700,000 x 25% aware x 1.7% convert; Bass 588 to 1,960; capture model 969 to 2,698. Carry 2,000, range 1,000 to 4,500.</a:t>
            </a:r>
            <a:endParaRPr lang="en-US" sz="1000" dirty="0"/>
          </a:p>
        </p:txBody>
      </p:sp>
      <p:sp>
        <p:nvSpPr>
          <p:cNvPr id="8" name="Text 5"/>
          <p:cNvSpPr txBox="1"/>
          <p:nvPr/>
        </p:nvSpPr>
        <p:spPr>
          <a:xfrm>
            <a:off x="457200" y="4681728"/>
            <a:ext cx="8229600" cy="347472"/>
          </a:xfrm>
          <a:prstGeom prst="rect">
            <a:avLst/>
          </a:prstGeom>
          <a:noFill/>
          <a:ln/>
        </p:spPr>
        <p:txBody>
          <a:bodyPr wrap="square" lIns="0" tIns="0" rIns="0" bIns="0" rtlCol="0" anchor="b"/>
          <a:lstStyle/>
          <a:p>
            <a:pPr indent="0" marL="0">
              <a:buNone/>
            </a:pPr>
            <a:r>
              <a:rPr lang="en-US" sz="800" dirty="0">
                <a:solidFill>
                  <a:srgbClr val="5B6470"/>
                </a:solidFill>
                <a:latin typeface="Calibri" pitchFamily="34" charset="0"/>
                <a:ea typeface="Calibri" pitchFamily="34" charset="-122"/>
                <a:cs typeface="Calibri" pitchFamily="34" charset="-120"/>
              </a:rPr>
              <a:t>Sethuraman, Tellis and Briesch 2011 (JMR): mean short term elasticity 0.12, long term 0.24. Longwoods: Washington 36% aware, 77,000 trips from 2.4M aware households; Wyoming intent 7% to 14%. Sultan, Farley, Lehmann 1990: p 0.03, q 0.38. Sheet Reach; reach.py.</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0B2545"/>
                </a:solidFill>
                <a:latin typeface="Cambria" pitchFamily="34" charset="0"/>
                <a:ea typeface="Cambria" pitchFamily="34" charset="-122"/>
                <a:cs typeface="Cambria" pitchFamily="34" charset="-120"/>
              </a:rPr>
              <a:t>The 25th anniversary: plus 3.5 percent net</a:t>
            </a:r>
            <a:endParaRPr lang="en-US" sz="2400" dirty="0"/>
          </a:p>
        </p:txBody>
      </p:sp>
      <p:graphicFrame>
        <p:nvGraphicFramePr>
          <p:cNvPr id="3" name="Chart 0" descr=""/>
          <p:cNvGraphicFramePr/>
          <p:nvPr/>
        </p:nvGraphicFramePr>
        <p:xfrm>
          <a:off x="457200" y="1097280"/>
          <a:ext cx="3931920" cy="2194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3337560"/>
            <a:ext cx="3931920" cy="822960"/>
          </a:xfrm>
          <a:prstGeom prst="rect">
            <a:avLst/>
          </a:prstGeom>
          <a:noFill/>
          <a:ln/>
        </p:spPr>
        <p:txBody>
          <a:bodyPr wrap="square" lIns="635" tIns="635" rIns="635" bIns="635" rtlCol="0" anchor="t"/>
          <a:lstStyle/>
          <a:p>
            <a:pPr indent="0" marL="0">
              <a:buNone/>
            </a:pPr>
            <a:r>
              <a:rPr lang="en-US" sz="1000" dirty="0">
                <a:solidFill>
                  <a:srgbClr val="1B1B1B"/>
                </a:solidFill>
                <a:latin typeface="Calibri" pitchFamily="34" charset="0"/>
                <a:ea typeface="Calibri" pitchFamily="34" charset="-122"/>
                <a:cs typeface="Calibri" pitchFamily="34" charset="-120"/>
              </a:rPr>
              <a:t>Indy 500's 100th running (2016) sold out for the first time in decades and did not sell out again until 2025. Milestone demand can exceed capacity. Disneyland gave back -1.8% the year after its 60th.</a:t>
            </a:r>
            <a:endParaRPr lang="en-US" sz="1000" dirty="0"/>
          </a:p>
        </p:txBody>
      </p:sp>
      <p:sp>
        <p:nvSpPr>
          <p:cNvPr id="5" name="Shape 2"/>
          <p:cNvSpPr/>
          <p:nvPr/>
        </p:nvSpPr>
        <p:spPr>
          <a:xfrm>
            <a:off x="4572000" y="1097280"/>
            <a:ext cx="4114800" cy="3520440"/>
          </a:xfrm>
          <a:prstGeom prst="roundRect">
            <a:avLst>
              <a:gd name="adj" fmla="val 2078"/>
            </a:avLst>
          </a:prstGeom>
          <a:solidFill>
            <a:srgbClr val="E8EFFA"/>
          </a:solidFill>
          <a:ln w="12700">
            <a:solidFill>
              <a:srgbClr val="E8EFFA"/>
            </a:solidFill>
            <a:prstDash val="solid"/>
          </a:ln>
        </p:spPr>
      </p:sp>
      <p:sp>
        <p:nvSpPr>
          <p:cNvPr id="6" name="Text 3"/>
          <p:cNvSpPr txBox="1"/>
          <p:nvPr/>
        </p:nvSpPr>
        <p:spPr>
          <a:xfrm>
            <a:off x="4709160" y="1188720"/>
            <a:ext cx="3657600" cy="274320"/>
          </a:xfrm>
          <a:prstGeom prst="rect">
            <a:avLst/>
          </a:prstGeom>
          <a:noFill/>
          <a:ln/>
        </p:spPr>
        <p:txBody>
          <a:bodyPr wrap="square" lIns="0" tIns="0" rIns="0" bIns="0" rtlCol="0" anchor="ctr"/>
          <a:lstStyle/>
          <a:p>
            <a:pPr indent="0" marL="0">
              <a:buNone/>
            </a:pPr>
            <a:r>
              <a:rPr lang="en-US" sz="1150" b="1" dirty="0">
                <a:solidFill>
                  <a:srgbClr val="1F5FBF"/>
                </a:solidFill>
                <a:latin typeface="Calibri" pitchFamily="34" charset="0"/>
                <a:ea typeface="Calibri" pitchFamily="34" charset="-122"/>
                <a:cs typeface="Calibri" pitchFamily="34" charset="-120"/>
              </a:rPr>
              <a:t>Bottom up, four channels</a:t>
            </a:r>
            <a:endParaRPr lang="en-US" sz="1150" dirty="0"/>
          </a:p>
        </p:txBody>
      </p:sp>
      <p:sp>
        <p:nvSpPr>
          <p:cNvPr id="7" name="Text 4"/>
          <p:cNvSpPr txBox="1"/>
          <p:nvPr/>
        </p:nvSpPr>
        <p:spPr>
          <a:xfrm>
            <a:off x="4663440" y="1508760"/>
            <a:ext cx="3931920" cy="3063240"/>
          </a:xfrm>
          <a:prstGeom prst="rect">
            <a:avLst/>
          </a:prstGeom>
          <a:noFill/>
          <a:ln/>
        </p:spPr>
        <p:txBody>
          <a:bodyPr wrap="square" lIns="635" tIns="635" rIns="635" bIns="635" rtlCol="0" anchor="t"/>
          <a:lstStyle/>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Lapsed visitors return. About 20 percent of visits each year are not annual regulars (New York State Fair, four in five are regulars). A 67,200 person lapsed pool at 3 percent is about 2,000 visits.</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Earned media. Anniversary press reaches locals who do not attend. About 900 visits.</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Special programming beyond the concert. About 1 percent.</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Regulars add a weekend. 30 percent already attend multiple times. About 1,300 visits.</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Stacked 8.6 percent, netted for overlap 4.8. Carry 3.5, range 1 to 7.</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Giveback. 2026 is a pulse, not the 2027 baseline. Part 3 plans on trend plus the diffusion ramp.</a:t>
            </a:r>
            <a:endParaRPr lang="en-US" sz="950" dirty="0"/>
          </a:p>
        </p:txBody>
      </p:sp>
      <p:sp>
        <p:nvSpPr>
          <p:cNvPr id="8" name="Text 5"/>
          <p:cNvSpPr txBox="1"/>
          <p:nvPr/>
        </p:nvSpPr>
        <p:spPr>
          <a:xfrm>
            <a:off x="457200" y="4681728"/>
            <a:ext cx="8229600" cy="347472"/>
          </a:xfrm>
          <a:prstGeom prst="rect">
            <a:avLst/>
          </a:prstGeom>
          <a:noFill/>
          <a:ln/>
        </p:spPr>
        <p:txBody>
          <a:bodyPr wrap="square" lIns="0" tIns="0" rIns="0" bIns="0" rtlCol="0" anchor="b"/>
          <a:lstStyle/>
          <a:p>
            <a:pPr indent="0" marL="0">
              <a:buNone/>
            </a:pPr>
            <a:r>
              <a:rPr lang="en-US" sz="800" dirty="0">
                <a:solidFill>
                  <a:srgbClr val="5B6470"/>
                </a:solidFill>
                <a:latin typeface="Calibri" pitchFamily="34" charset="0"/>
                <a:ea typeface="Calibri" pitchFamily="34" charset="-122"/>
                <a:cs typeface="Calibri" pitchFamily="34" charset="-120"/>
              </a:rPr>
              <a:t>TEA/AECOM Theme Index (Disneyland 16.77M, 18.28M, 17.94M). Amusement Business/ERA 2005 (Disneyland +8.5%, top 50 parks +4.2%). Morning Call, Musikfest 2023. Des Moines Register/ESPN on Indy 500 sellouts. NY State Fair 2015 exit survey. Sheet Anniversary; anniversary.py.</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0B2545"/>
                </a:solidFill>
                <a:latin typeface="Cambria" pitchFamily="34" charset="0"/>
                <a:ea typeface="Cambria" pitchFamily="34" charset="-122"/>
                <a:cs typeface="Cambria" pitchFamily="34" charset="-120"/>
              </a:rPr>
              <a:t>Concert draw depends on the act: a 10M act adds about 800</a:t>
            </a:r>
            <a:endParaRPr lang="en-US" sz="2400" dirty="0"/>
          </a:p>
        </p:txBody>
      </p:sp>
      <p:graphicFrame>
        <p:nvGraphicFramePr>
          <p:cNvPr id="3" name="Chart 0" descr=""/>
          <p:cNvGraphicFramePr/>
          <p:nvPr/>
        </p:nvGraphicFramePr>
        <p:xfrm>
          <a:off x="457200" y="1097280"/>
          <a:ext cx="4023360" cy="2377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3520440"/>
            <a:ext cx="4023360" cy="1143000"/>
          </a:xfrm>
          <a:prstGeom prst="rect">
            <a:avLst/>
          </a:prstGeom>
          <a:noFill/>
          <a:ln/>
        </p:spPr>
        <p:txBody>
          <a:bodyPr wrap="square" lIns="635" tIns="635" rIns="635" bIns="635" rtlCol="0" anchor="t"/>
          <a:lstStyle/>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Weekend 4 Saturday overtakes Weekend 3 Saturday above roughly 20M combined listeners. A flat 2,000 incremental would need about 27M.</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A regional 1M act with four times the local density (450) beats a playlist driven 10M act (225). Ask the booker for the Spotify city list, not the national number.</a:t>
            </a:r>
            <a:endParaRPr lang="en-US" sz="950" dirty="0"/>
          </a:p>
        </p:txBody>
      </p:sp>
      <p:sp>
        <p:nvSpPr>
          <p:cNvPr id="5" name="Shape 2"/>
          <p:cNvSpPr/>
          <p:nvPr/>
        </p:nvSpPr>
        <p:spPr>
          <a:xfrm>
            <a:off x="4663440" y="1097280"/>
            <a:ext cx="4023360" cy="3520440"/>
          </a:xfrm>
          <a:prstGeom prst="roundRect">
            <a:avLst>
              <a:gd name="adj" fmla="val 2078"/>
            </a:avLst>
          </a:prstGeom>
          <a:solidFill>
            <a:srgbClr val="E8EFFA"/>
          </a:solidFill>
          <a:ln w="12700">
            <a:solidFill>
              <a:srgbClr val="E8EFFA"/>
            </a:solidFill>
            <a:prstDash val="solid"/>
          </a:ln>
        </p:spPr>
      </p:sp>
      <p:sp>
        <p:nvSpPr>
          <p:cNvPr id="6" name="Text 3"/>
          <p:cNvSpPr txBox="1"/>
          <p:nvPr/>
        </p:nvSpPr>
        <p:spPr>
          <a:xfrm>
            <a:off x="4800600" y="1188720"/>
            <a:ext cx="3657600" cy="274320"/>
          </a:xfrm>
          <a:prstGeom prst="rect">
            <a:avLst/>
          </a:prstGeom>
          <a:noFill/>
          <a:ln/>
        </p:spPr>
        <p:txBody>
          <a:bodyPr wrap="square" lIns="0" tIns="0" rIns="0" bIns="0" rtlCol="0" anchor="ctr"/>
          <a:lstStyle/>
          <a:p>
            <a:pPr indent="0" marL="0">
              <a:buNone/>
            </a:pPr>
            <a:r>
              <a:rPr lang="en-US" sz="1150" b="1" dirty="0">
                <a:solidFill>
                  <a:srgbClr val="1F5FBF"/>
                </a:solidFill>
                <a:latin typeface="Calibri" pitchFamily="34" charset="0"/>
                <a:ea typeface="Calibri" pitchFamily="34" charset="-122"/>
                <a:cs typeface="Calibri" pitchFamily="34" charset="-120"/>
              </a:rPr>
              <a:t>Listener funnel</a:t>
            </a:r>
            <a:endParaRPr lang="en-US" sz="1150" dirty="0"/>
          </a:p>
        </p:txBody>
      </p:sp>
      <p:sp>
        <p:nvSpPr>
          <p:cNvPr id="7" name="Text 4"/>
          <p:cNvSpPr txBox="1"/>
          <p:nvPr/>
        </p:nvSpPr>
        <p:spPr>
          <a:xfrm>
            <a:off x="4754880" y="1508760"/>
            <a:ext cx="3840480" cy="3063240"/>
          </a:xfrm>
          <a:prstGeom prst="rect">
            <a:avLst/>
          </a:prstGeom>
          <a:noFill/>
          <a:ln/>
        </p:spPr>
        <p:txBody>
          <a:bodyPr wrap="square" lIns="635" tIns="635" rIns="635" bIns="635" rtlCol="0" anchor="t"/>
          <a:lstStyle/>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Combined listeners: Spotify public count plus Apple at 0.35x (Spotify 37% and Apple 31% of US subscribers, but Spotify counts free users), less 7% overlap.</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Catchment: the reach area holds 0.23% of a US act's listeners with the outer ring weighted 0.25 for distance. Affinity 1.0 national, up to 4x regional.</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Conversion: 1 to 3% of metro listeners buy paid tickets; free with admission, 10%. Super listeners (2% of audience, 50% of sales) set an engagement multiplier.</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Show up 70%. Ten percent of fans are regulars who shift weekends. Casual on grounds guests fill 40% of seats.</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If reservations are used, issue about 16,000 passes: free events lose 40 to 60% to no shows.</a:t>
            </a:r>
            <a:endParaRPr lang="en-US" sz="950" dirty="0"/>
          </a:p>
        </p:txBody>
      </p:sp>
      <p:sp>
        <p:nvSpPr>
          <p:cNvPr id="8" name="Text 5"/>
          <p:cNvSpPr txBox="1"/>
          <p:nvPr/>
        </p:nvSpPr>
        <p:spPr>
          <a:xfrm>
            <a:off x="457200" y="4681728"/>
            <a:ext cx="8229600" cy="347472"/>
          </a:xfrm>
          <a:prstGeom prst="rect">
            <a:avLst/>
          </a:prstGeom>
          <a:noFill/>
          <a:ln/>
        </p:spPr>
        <p:txBody>
          <a:bodyPr wrap="square" lIns="0" tIns="0" rIns="0" bIns="0" rtlCol="0" anchor="b"/>
          <a:lstStyle/>
          <a:p>
            <a:pPr indent="0" marL="0">
              <a:buNone/>
            </a:pPr>
            <a:r>
              <a:rPr lang="en-US" sz="800" dirty="0">
                <a:solidFill>
                  <a:srgbClr val="5B6470"/>
                </a:solidFill>
                <a:latin typeface="Calibri" pitchFamily="34" charset="0"/>
                <a:ea typeface="Calibri" pitchFamily="34" charset="-122"/>
                <a:cs typeface="Calibri" pitchFamily="34" charset="-120"/>
              </a:rPr>
              <a:t>insights.live (1 to 3% metro conversion; super listeners). Orphiq (2% working estimate). Digital Music News Aug 2025, DemandSage (US shares). VenueSight/Eventbrite (no shows). Google Area 120 DEMAND: 70% of tickets start with a Google search, so Google Trends by metro is a free affinity proxy. Sheet Concert; concert.py.</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0B2545"/>
                </a:solidFill>
                <a:latin typeface="Cambria" pitchFamily="34" charset="0"/>
                <a:ea typeface="Cambria" pitchFamily="34" charset="-122"/>
                <a:cs typeface="Cambria" pitchFamily="34" charset="-120"/>
              </a:rPr>
              <a:t>Macro backdrop: visits down 0.8 percent, spend down 4 percent</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6858000" cy="914400"/>
        </p:xfrm>
        <a:graphic>
          <a:graphicData uri="http://schemas.openxmlformats.org/drawingml/2006/table">
            <a:tbl>
              <a:tblPr/>
              <a:tblGrid>
                <a:gridCol w="1783080"/>
                <a:gridCol w="960120"/>
                <a:gridCol w="731520"/>
                <a:gridCol w="2377440"/>
              </a:tblGrid>
              <a:tr h="0">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Indicator</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September 2026</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A year ago</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Read</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r>
              <a:tr h="0">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UMich consumer sentiment</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48.1</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55.1</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Near record lows; fell across income groups</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One-year inflation expectations</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4.6%</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3.6%</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High prices are the top complaint</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Gasoline, national average</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$4.49</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$3.60</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Highest ever for late September; Iran conflict</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Unemployment / payrolls</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4.1% / +162k</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4.2%</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Labor market intact</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Retail and food-service sales, y/y</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+6.0% nominal</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850" dirty="0">
                          <a:solidFill>
                            <a:srgbClr val="1B1B1B"/>
                          </a:solidFill>
                          <a:latin typeface="Calibri" pitchFamily="34" charset="0"/>
                          <a:ea typeface="Calibri" pitchFamily="34" charset="-122"/>
                          <a:cs typeface="Calibri" pitchFamily="34" charset="-120"/>
                        </a:rPr>
                        <a:t>People feel bad and keep spending</a:t>
                      </a:r>
                      <a:endParaRPr lang="en-US" sz="8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bl>
          </a:graphicData>
        </a:graphic>
      </p:graphicFrame>
      <p:sp>
        <p:nvSpPr>
          <p:cNvPr id="4" name="Shape 1"/>
          <p:cNvSpPr/>
          <p:nvPr/>
        </p:nvSpPr>
        <p:spPr>
          <a:xfrm>
            <a:off x="6446520" y="1097280"/>
            <a:ext cx="2240280" cy="3520440"/>
          </a:xfrm>
          <a:prstGeom prst="roundRect">
            <a:avLst>
              <a:gd name="adj" fmla="val 3265"/>
            </a:avLst>
          </a:prstGeom>
          <a:solidFill>
            <a:srgbClr val="E8EFFA"/>
          </a:solidFill>
          <a:ln w="12700">
            <a:solidFill>
              <a:srgbClr val="E8EFFA"/>
            </a:solidFill>
            <a:prstDash val="solid"/>
          </a:ln>
        </p:spPr>
      </p:sp>
      <p:sp>
        <p:nvSpPr>
          <p:cNvPr id="5" name="Text 2"/>
          <p:cNvSpPr txBox="1"/>
          <p:nvPr/>
        </p:nvSpPr>
        <p:spPr>
          <a:xfrm>
            <a:off x="6583680" y="1188720"/>
            <a:ext cx="2011680" cy="640080"/>
          </a:xfrm>
          <a:prstGeom prst="rect">
            <a:avLst/>
          </a:prstGeom>
          <a:noFill/>
          <a:ln/>
        </p:spPr>
        <p:txBody>
          <a:bodyPr wrap="square" lIns="0" tIns="0" rIns="0" bIns="0" rtlCol="0" anchor="ctr"/>
          <a:lstStyle/>
          <a:p>
            <a:pPr indent="0" marL="0">
              <a:buNone/>
            </a:pPr>
            <a:r>
              <a:rPr lang="en-US" sz="3200" b="1" dirty="0">
                <a:solidFill>
                  <a:srgbClr val="D7263D"/>
                </a:solidFill>
                <a:latin typeface="Cambria" pitchFamily="34" charset="0"/>
                <a:ea typeface="Cambria" pitchFamily="34" charset="-122"/>
                <a:cs typeface="Cambria" pitchFamily="34" charset="-120"/>
              </a:rPr>
              <a:t>-0.8%</a:t>
            </a:r>
            <a:endParaRPr lang="en-US" sz="3200" dirty="0"/>
          </a:p>
        </p:txBody>
      </p:sp>
      <p:sp>
        <p:nvSpPr>
          <p:cNvPr id="6" name="Text 3"/>
          <p:cNvSpPr txBox="1"/>
          <p:nvPr/>
        </p:nvSpPr>
        <p:spPr>
          <a:xfrm>
            <a:off x="6583680" y="1810512"/>
            <a:ext cx="2011680" cy="292608"/>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net on attendance (about -468 visits)</a:t>
            </a:r>
            <a:endParaRPr lang="en-US" sz="1000" dirty="0"/>
          </a:p>
        </p:txBody>
      </p:sp>
      <p:sp>
        <p:nvSpPr>
          <p:cNvPr id="7" name="Text 4"/>
          <p:cNvSpPr txBox="1"/>
          <p:nvPr/>
        </p:nvSpPr>
        <p:spPr>
          <a:xfrm>
            <a:off x="6583680" y="2240280"/>
            <a:ext cx="2011680" cy="640080"/>
          </a:xfrm>
          <a:prstGeom prst="rect">
            <a:avLst/>
          </a:prstGeom>
          <a:noFill/>
          <a:ln/>
        </p:spPr>
        <p:txBody>
          <a:bodyPr wrap="square" lIns="0" tIns="0" rIns="0" bIns="0" rtlCol="0" anchor="ctr"/>
          <a:lstStyle/>
          <a:p>
            <a:pPr indent="0" marL="0">
              <a:buNone/>
            </a:pPr>
            <a:r>
              <a:rPr lang="en-US" sz="3200" b="1" dirty="0">
                <a:solidFill>
                  <a:srgbClr val="D7263D"/>
                </a:solidFill>
                <a:latin typeface="Cambria" pitchFamily="34" charset="0"/>
                <a:ea typeface="Cambria" pitchFamily="34" charset="-122"/>
                <a:cs typeface="Cambria" pitchFamily="34" charset="-120"/>
              </a:rPr>
              <a:t>−4%</a:t>
            </a:r>
            <a:endParaRPr lang="en-US" sz="3200" dirty="0"/>
          </a:p>
        </p:txBody>
      </p:sp>
      <p:sp>
        <p:nvSpPr>
          <p:cNvPr id="8" name="Text 5"/>
          <p:cNvSpPr txBox="1"/>
          <p:nvPr/>
        </p:nvSpPr>
        <p:spPr>
          <a:xfrm>
            <a:off x="6583680" y="2862072"/>
            <a:ext cx="2011680" cy="292608"/>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real spend per guest (trade-down)</a:t>
            </a:r>
            <a:endParaRPr lang="en-US" sz="1000" dirty="0"/>
          </a:p>
        </p:txBody>
      </p:sp>
      <p:sp>
        <p:nvSpPr>
          <p:cNvPr id="9" name="Text 6"/>
          <p:cNvSpPr txBox="1"/>
          <p:nvPr/>
        </p:nvSpPr>
        <p:spPr>
          <a:xfrm>
            <a:off x="6583680" y="3291840"/>
            <a:ext cx="2011680" cy="64008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+4.6%</a:t>
            </a:r>
            <a:endParaRPr lang="en-US" sz="3200" dirty="0"/>
          </a:p>
        </p:txBody>
      </p:sp>
      <p:sp>
        <p:nvSpPr>
          <p:cNvPr id="10" name="Text 7"/>
          <p:cNvSpPr txBox="1"/>
          <p:nvPr/>
        </p:nvSpPr>
        <p:spPr>
          <a:xfrm>
            <a:off x="6583680" y="3913632"/>
            <a:ext cx="2011680" cy="292608"/>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cost escalator on 2027 options</a:t>
            </a:r>
            <a:endParaRPr lang="en-US" sz="1000" dirty="0"/>
          </a:p>
        </p:txBody>
      </p:sp>
      <p:sp>
        <p:nvSpPr>
          <p:cNvPr id="11" name="Shape 8"/>
          <p:cNvSpPr/>
          <p:nvPr/>
        </p:nvSpPr>
        <p:spPr>
          <a:xfrm>
            <a:off x="457200" y="2880360"/>
            <a:ext cx="5806440" cy="1737360"/>
          </a:xfrm>
          <a:prstGeom prst="roundRect">
            <a:avLst>
              <a:gd name="adj" fmla="val 4211"/>
            </a:avLst>
          </a:prstGeom>
          <a:solidFill>
            <a:srgbClr val="E8EFFA"/>
          </a:solidFill>
          <a:ln w="12700">
            <a:solidFill>
              <a:srgbClr val="E8EFFA"/>
            </a:solidFill>
            <a:prstDash val="solid"/>
          </a:ln>
        </p:spPr>
      </p:sp>
      <p:sp>
        <p:nvSpPr>
          <p:cNvPr id="12" name="Text 9"/>
          <p:cNvSpPr txBox="1"/>
          <p:nvPr/>
        </p:nvSpPr>
        <p:spPr>
          <a:xfrm>
            <a:off x="548640" y="2944368"/>
            <a:ext cx="5623560" cy="1645920"/>
          </a:xfrm>
          <a:prstGeom prst="rect">
            <a:avLst/>
          </a:prstGeom>
          <a:noFill/>
          <a:ln/>
        </p:spPr>
        <p:txBody>
          <a:bodyPr wrap="square" lIns="635" tIns="635" rIns="635" bIns="635" rtlCol="0" anchor="t"/>
          <a:lstStyle/>
          <a:p>
            <a:pPr marL="152400" indent="-152400">
              <a:spcAft>
                <a:spcPts val="500"/>
              </a:spcAft>
              <a:buSzPct val="100000"/>
              <a:buChar char="•"/>
            </a:pPr>
            <a:r>
              <a:rPr lang="en-US" sz="900" dirty="0">
                <a:solidFill>
                  <a:srgbClr val="1B1B1B"/>
                </a:solidFill>
                <a:latin typeface="Calibri" pitchFamily="34" charset="0"/>
                <a:ea typeface="Calibri" pitchFamily="34" charset="-122"/>
                <a:cs typeface="Calibri" pitchFamily="34" charset="-120"/>
              </a:rPr>
              <a:t>Staycation substitution. A $12 local festival is the cheap alternative to travel. In 2009 fairs reported booming business as families skipped out-of-town trips. Local ring +1 percent, about +392 visits.</a:t>
            </a:r>
            <a:endParaRPr lang="en-US" sz="900" dirty="0"/>
          </a:p>
          <a:p>
            <a:pPr marL="152400" indent="-152400">
              <a:spcAft>
                <a:spcPts val="500"/>
              </a:spcAft>
              <a:buSzPct val="100000"/>
              <a:buChar char="•"/>
            </a:pPr>
            <a:r>
              <a:rPr lang="en-US" sz="900" dirty="0">
                <a:solidFill>
                  <a:srgbClr val="1B1B1B"/>
                </a:solidFill>
                <a:latin typeface="Calibri" pitchFamily="34" charset="0"/>
                <a:ea typeface="Calibri" pitchFamily="34" charset="-122"/>
                <a:cs typeface="Calibri" pitchFamily="34" charset="-120"/>
              </a:rPr>
              <a:t>Fuel cost on the outer ring. Gas is up 25 percent; a 90-mile round trip costs $3.20 more. Total gasoline demand is barely elastic (Hughes, Knittel, Sperling: minus 0.03 to minus 0.08), but discretionary day trips are more so. At minus 0.2, outer visits fall -4.9 percent, about -692.</a:t>
            </a:r>
            <a:endParaRPr lang="en-US" sz="900" dirty="0"/>
          </a:p>
          <a:p>
            <a:pPr marL="152400" indent="-152400">
              <a:spcAft>
                <a:spcPts val="500"/>
              </a:spcAft>
              <a:buSzPct val="100000"/>
              <a:buChar char="•"/>
            </a:pPr>
            <a:r>
              <a:rPr lang="en-US" sz="900" dirty="0">
                <a:solidFill>
                  <a:srgbClr val="1B1B1B"/>
                </a:solidFill>
                <a:latin typeface="Calibri" pitchFamily="34" charset="0"/>
                <a:ea typeface="Calibri" pitchFamily="34" charset="-122"/>
                <a:cs typeface="Calibri" pitchFamily="34" charset="-120"/>
              </a:rPr>
              <a:t>Real income squeeze. Sentiment barely predicts visits (spending is still growing), so a small drag of -168. The bigger effect is trade-down inside the gate: minus 4 percent real per cap, which Part 2 and Part 3 carry.</a:t>
            </a:r>
            <a:endParaRPr lang="en-US" sz="900" dirty="0"/>
          </a:p>
        </p:txBody>
      </p:sp>
      <p:sp>
        <p:nvSpPr>
          <p:cNvPr id="13" name="Text 10"/>
          <p:cNvSpPr txBox="1"/>
          <p:nvPr/>
        </p:nvSpPr>
        <p:spPr>
          <a:xfrm>
            <a:off x="457200" y="4681728"/>
            <a:ext cx="8229600" cy="347472"/>
          </a:xfrm>
          <a:prstGeom prst="rect">
            <a:avLst/>
          </a:prstGeom>
          <a:noFill/>
          <a:ln/>
        </p:spPr>
        <p:txBody>
          <a:bodyPr wrap="square" lIns="0" tIns="0" rIns="0" bIns="0" rtlCol="0" anchor="b"/>
          <a:lstStyle/>
          <a:p>
            <a:pPr indent="0" marL="0">
              <a:buNone/>
            </a:pPr>
            <a:r>
              <a:rPr lang="en-US" sz="800" dirty="0">
                <a:solidFill>
                  <a:srgbClr val="5B6470"/>
                </a:solidFill>
                <a:latin typeface="Calibri" pitchFamily="34" charset="0"/>
                <a:ea typeface="Calibri" pitchFamily="34" charset="-122"/>
                <a:cs typeface="Calibri" pitchFamily="34" charset="-120"/>
              </a:rPr>
              <a:t>UMich Surveys of Consumers Sept 2026; NY Fed SCE Aug 2026; AAA Sept 25 2026; Empower/AAA y/y; BLS and Census via Sept 2026 coverage; NBC News Aug 2009 (Salem Fair ticket and food sales +25%); CBS Minnesota (2009 record); Star Tribune Sept 2025; Hughes, Knittel and Sperling, Energy Journal 2008 (NBER w12530). Sheet Macro; macro.py.</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0B2545"/>
                </a:solidFill>
                <a:latin typeface="Cambria" pitchFamily="34" charset="0"/>
                <a:ea typeface="Cambria" pitchFamily="34" charset="-122"/>
                <a:cs typeface="Cambria" pitchFamily="34" charset="-120"/>
              </a:rPr>
              <a:t>Bridge: 56,000 in 2025 to an expected 62,100 in 2026</a:t>
            </a:r>
            <a:endParaRPr lang="en-US" sz="2400" dirty="0"/>
          </a:p>
        </p:txBody>
      </p:sp>
      <p:graphicFrame>
        <p:nvGraphicFramePr>
          <p:cNvPr id="3" name="Chart 0" descr=""/>
          <p:cNvGraphicFramePr/>
          <p:nvPr/>
        </p:nvGraphicFramePr>
        <p:xfrm>
          <a:off x="457200" y="1097280"/>
          <a:ext cx="5486400" cy="34747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172200" y="1097280"/>
            <a:ext cx="2514600" cy="3520440"/>
          </a:xfrm>
          <a:prstGeom prst="roundRect">
            <a:avLst>
              <a:gd name="adj" fmla="val 2909"/>
            </a:avLst>
          </a:prstGeom>
          <a:solidFill>
            <a:srgbClr val="E8EFFA"/>
          </a:solidFill>
          <a:ln w="12700">
            <a:solidFill>
              <a:srgbClr val="E8EFFA"/>
            </a:solidFill>
            <a:prstDash val="solid"/>
          </a:ln>
        </p:spPr>
      </p:sp>
      <p:sp>
        <p:nvSpPr>
          <p:cNvPr id="5" name="Text 2"/>
          <p:cNvSpPr txBox="1"/>
          <p:nvPr/>
        </p:nvSpPr>
        <p:spPr>
          <a:xfrm>
            <a:off x="6355080" y="1234440"/>
            <a:ext cx="2194560" cy="640080"/>
          </a:xfrm>
          <a:prstGeom prst="rect">
            <a:avLst/>
          </a:prstGeom>
          <a:noFill/>
          <a:ln/>
        </p:spPr>
        <p:txBody>
          <a:bodyPr wrap="square" lIns="0" tIns="0" rIns="0" bIns="0" rtlCol="0" anchor="ctr"/>
          <a:lstStyle/>
          <a:p>
            <a:pPr indent="0" marL="0">
              <a:buNone/>
            </a:pPr>
            <a:r>
              <a:rPr lang="en-US" sz="3200" b="1" dirty="0">
                <a:solidFill>
                  <a:srgbClr val="5B6470"/>
                </a:solidFill>
                <a:latin typeface="Cambria" pitchFamily="34" charset="0"/>
                <a:ea typeface="Cambria" pitchFamily="34" charset="-122"/>
                <a:cs typeface="Cambria" pitchFamily="34" charset="-120"/>
              </a:rPr>
              <a:t>59,100</a:t>
            </a:r>
            <a:endParaRPr lang="en-US" sz="3200" dirty="0"/>
          </a:p>
        </p:txBody>
      </p:sp>
      <p:sp>
        <p:nvSpPr>
          <p:cNvPr id="6" name="Text 3"/>
          <p:cNvSpPr txBox="1"/>
          <p:nvPr/>
        </p:nvSpPr>
        <p:spPr>
          <a:xfrm>
            <a:off x="6355080" y="1856232"/>
            <a:ext cx="2194560" cy="292608"/>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Low (P10)</a:t>
            </a:r>
            <a:endParaRPr lang="en-US" sz="1000" dirty="0"/>
          </a:p>
        </p:txBody>
      </p:sp>
      <p:sp>
        <p:nvSpPr>
          <p:cNvPr id="7" name="Text 4"/>
          <p:cNvSpPr txBox="1"/>
          <p:nvPr/>
        </p:nvSpPr>
        <p:spPr>
          <a:xfrm>
            <a:off x="6355080" y="2240280"/>
            <a:ext cx="2194560" cy="640080"/>
          </a:xfrm>
          <a:prstGeom prst="rect">
            <a:avLst/>
          </a:prstGeom>
          <a:noFill/>
          <a:ln/>
        </p:spPr>
        <p:txBody>
          <a:bodyPr wrap="square" lIns="0" tIns="0" rIns="0" bIns="0" rtlCol="0" anchor="ctr"/>
          <a:lstStyle/>
          <a:p>
            <a:pPr indent="0" marL="0">
              <a:buNone/>
            </a:pPr>
            <a:r>
              <a:rPr lang="en-US" sz="3200" b="1" dirty="0">
                <a:solidFill>
                  <a:srgbClr val="1F5FBF"/>
                </a:solidFill>
                <a:latin typeface="Cambria" pitchFamily="34" charset="0"/>
                <a:ea typeface="Cambria" pitchFamily="34" charset="-122"/>
                <a:cs typeface="Cambria" pitchFamily="34" charset="-120"/>
              </a:rPr>
              <a:t>62,100</a:t>
            </a:r>
            <a:endParaRPr lang="en-US" sz="3200" dirty="0"/>
          </a:p>
        </p:txBody>
      </p:sp>
      <p:sp>
        <p:nvSpPr>
          <p:cNvPr id="8" name="Text 5"/>
          <p:cNvSpPr txBox="1"/>
          <p:nvPr/>
        </p:nvSpPr>
        <p:spPr>
          <a:xfrm>
            <a:off x="6355080" y="2862072"/>
            <a:ext cx="2194560" cy="292608"/>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Expected (P50)</a:t>
            </a:r>
            <a:endParaRPr lang="en-US" sz="1000" dirty="0"/>
          </a:p>
        </p:txBody>
      </p:sp>
      <p:sp>
        <p:nvSpPr>
          <p:cNvPr id="9" name="Text 6"/>
          <p:cNvSpPr txBox="1"/>
          <p:nvPr/>
        </p:nvSpPr>
        <p:spPr>
          <a:xfrm>
            <a:off x="6355080" y="3246120"/>
            <a:ext cx="2194560" cy="640080"/>
          </a:xfrm>
          <a:prstGeom prst="rect">
            <a:avLst/>
          </a:prstGeom>
          <a:noFill/>
          <a:ln/>
        </p:spPr>
        <p:txBody>
          <a:bodyPr wrap="square" lIns="0" tIns="0" rIns="0" bIns="0" rtlCol="0" anchor="ctr"/>
          <a:lstStyle/>
          <a:p>
            <a:pPr indent="0" marL="0">
              <a:buNone/>
            </a:pPr>
            <a:r>
              <a:rPr lang="en-US" sz="3200" b="1" dirty="0">
                <a:solidFill>
                  <a:srgbClr val="5B6470"/>
                </a:solidFill>
                <a:latin typeface="Cambria" pitchFamily="34" charset="0"/>
                <a:ea typeface="Cambria" pitchFamily="34" charset="-122"/>
                <a:cs typeface="Cambria" pitchFamily="34" charset="-120"/>
              </a:rPr>
              <a:t>64,700</a:t>
            </a:r>
            <a:endParaRPr lang="en-US" sz="3200" dirty="0"/>
          </a:p>
        </p:txBody>
      </p:sp>
      <p:sp>
        <p:nvSpPr>
          <p:cNvPr id="10" name="Text 7"/>
          <p:cNvSpPr txBox="1"/>
          <p:nvPr/>
        </p:nvSpPr>
        <p:spPr>
          <a:xfrm>
            <a:off x="6355080" y="3867912"/>
            <a:ext cx="2194560" cy="292608"/>
          </a:xfrm>
          <a:prstGeom prst="rect">
            <a:avLst/>
          </a:prstGeom>
          <a:noFill/>
          <a:ln/>
        </p:spPr>
        <p:txBody>
          <a:bodyPr wrap="square" lIns="0" tIns="0" rIns="0" bIns="0" rtlCol="0" anchor="ctr"/>
          <a:lstStyle/>
          <a:p>
            <a:pPr indent="0" marL="0">
              <a:buNone/>
            </a:pPr>
            <a:r>
              <a:rPr lang="en-US" sz="1000" dirty="0">
                <a:solidFill>
                  <a:srgbClr val="5B6470"/>
                </a:solidFill>
                <a:latin typeface="Calibri" pitchFamily="34" charset="0"/>
                <a:ea typeface="Calibri" pitchFamily="34" charset="-122"/>
                <a:cs typeface="Calibri" pitchFamily="34" charset="-120"/>
              </a:rPr>
              <a:t>High (P90)</a:t>
            </a:r>
            <a:endParaRPr lang="en-US" sz="1000" dirty="0"/>
          </a:p>
        </p:txBody>
      </p:sp>
      <p:sp>
        <p:nvSpPr>
          <p:cNvPr id="11" name="Text 8"/>
          <p:cNvSpPr txBox="1"/>
          <p:nvPr/>
        </p:nvSpPr>
        <p:spPr>
          <a:xfrm>
            <a:off x="6355080" y="4206240"/>
            <a:ext cx="2194560" cy="320040"/>
          </a:xfrm>
          <a:prstGeom prst="rect">
            <a:avLst/>
          </a:prstGeom>
          <a:noFill/>
          <a:ln/>
        </p:spPr>
        <p:txBody>
          <a:bodyPr wrap="square" lIns="635" tIns="635" rIns="635" bIns="635" rtlCol="0" anchor="t"/>
          <a:lstStyle/>
          <a:p>
            <a:pPr indent="0" marL="0">
              <a:buNone/>
            </a:pPr>
            <a:r>
              <a:rPr lang="en-US" sz="950" dirty="0">
                <a:solidFill>
                  <a:srgbClr val="5B6470"/>
                </a:solidFill>
                <a:latin typeface="Calibri" pitchFamily="34" charset="0"/>
                <a:ea typeface="Calibri" pitchFamily="34" charset="-122"/>
                <a:cs typeface="Calibri" pitchFamily="34" charset="-120"/>
              </a:rPr>
              <a:t>82% chance of clearing 60,000</a:t>
            </a:r>
            <a:endParaRPr lang="en-US" sz="950" dirty="0"/>
          </a:p>
        </p:txBody>
      </p:sp>
      <p:sp>
        <p:nvSpPr>
          <p:cNvPr id="12" name="Text 9"/>
          <p:cNvSpPr txBox="1"/>
          <p:nvPr/>
        </p:nvSpPr>
        <p:spPr>
          <a:xfrm>
            <a:off x="457200" y="4681728"/>
            <a:ext cx="8229600" cy="347472"/>
          </a:xfrm>
          <a:prstGeom prst="rect">
            <a:avLst/>
          </a:prstGeom>
          <a:noFill/>
          <a:ln/>
        </p:spPr>
        <p:txBody>
          <a:bodyPr wrap="square" lIns="0" tIns="0" rIns="0" bIns="0" rtlCol="0" anchor="b"/>
          <a:lstStyle/>
          <a:p>
            <a:pPr indent="0" marL="0">
              <a:buNone/>
            </a:pPr>
            <a:r>
              <a:rPr lang="en-US" sz="800" dirty="0">
                <a:solidFill>
                  <a:srgbClr val="5B6470"/>
                </a:solidFill>
                <a:latin typeface="Calibri" pitchFamily="34" charset="0"/>
                <a:ea typeface="Calibri" pitchFamily="34" charset="-122"/>
                <a:cs typeface="Calibri" pitchFamily="34" charset="-120"/>
              </a:rPr>
              <a:t>Percentages applied first (trend, marketing 0.5%, anniversary 3.5%, macro -0.8%), headcounts after (reach 2,000, concert 800). Weather multiplier 0.90 to 1.02, mode 1.00. 100,000 Monte Carlo draws (simulate.py). Fair weather total 63,163; the downside skewed weather pulls the median lower. Sheet Bridge.</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0B2545"/>
                </a:solidFill>
                <a:latin typeface="Cambria" pitchFamily="34" charset="0"/>
                <a:ea typeface="Cambria" pitchFamily="34" charset="-122"/>
                <a:cs typeface="Cambria" pitchFamily="34" charset="-120"/>
              </a:rPr>
              <a:t>Weekend 3 Saturday is the design day, at about 10,100 guests</a:t>
            </a:r>
            <a:endParaRPr lang="en-US" sz="2400" dirty="0"/>
          </a:p>
        </p:txBody>
      </p:sp>
      <p:graphicFrame>
        <p:nvGraphicFramePr>
          <p:cNvPr id="3" name="Chart 0" descr=""/>
          <p:cNvGraphicFramePr/>
          <p:nvPr/>
        </p:nvGraphicFramePr>
        <p:xfrm>
          <a:off x="457200" y="1097280"/>
          <a:ext cx="4572000" cy="27432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3886200"/>
            <a:ext cx="4572000" cy="731520"/>
          </a:xfrm>
          <a:prstGeom prst="rect">
            <a:avLst/>
          </a:prstGeom>
          <a:noFill/>
          <a:ln/>
        </p:spPr>
        <p:txBody>
          <a:bodyPr wrap="square" lIns="635" tIns="635" rIns="635" bIns="635" rtlCol="0" anchor="t"/>
          <a:lstStyle/>
          <a:p>
            <a:pPr indent="0" marL="0">
              <a:buNone/>
            </a:pPr>
            <a:r>
              <a:rPr lang="en-US" sz="950" dirty="0">
                <a:solidFill>
                  <a:srgbClr val="5B6470"/>
                </a:solidFill>
                <a:latin typeface="Calibri" pitchFamily="34" charset="0"/>
                <a:ea typeface="Calibri" pitchFamily="34" charset="-122"/>
                <a:cs typeface="Calibri" pitchFamily="34" charset="-120"/>
              </a:rPr>
              <a:t>P10 to P90: 11,600 to 12,700 | 14,500 to 15,900 | 17,400 to 19,100 | 15,500 to 17,100. Weekend 4 carries the concert guests and 100 shifted regulars.</a:t>
            </a:r>
            <a:endParaRPr lang="en-US" sz="950" dirty="0"/>
          </a:p>
        </p:txBody>
      </p:sp>
      <p:sp>
        <p:nvSpPr>
          <p:cNvPr id="5" name="Shape 2"/>
          <p:cNvSpPr/>
          <p:nvPr/>
        </p:nvSpPr>
        <p:spPr>
          <a:xfrm>
            <a:off x="5257800" y="1097280"/>
            <a:ext cx="3429000" cy="3520440"/>
          </a:xfrm>
          <a:prstGeom prst="roundRect">
            <a:avLst>
              <a:gd name="adj" fmla="val 2133"/>
            </a:avLst>
          </a:prstGeom>
          <a:solidFill>
            <a:srgbClr val="E8EFFA"/>
          </a:solidFill>
          <a:ln w="12700">
            <a:solidFill>
              <a:srgbClr val="E8EFFA"/>
            </a:solidFill>
            <a:prstDash val="solid"/>
          </a:ln>
        </p:spPr>
      </p:sp>
      <p:sp>
        <p:nvSpPr>
          <p:cNvPr id="6" name="Text 3"/>
          <p:cNvSpPr txBox="1"/>
          <p:nvPr/>
        </p:nvSpPr>
        <p:spPr>
          <a:xfrm>
            <a:off x="5394960" y="1188720"/>
            <a:ext cx="3200400" cy="274320"/>
          </a:xfrm>
          <a:prstGeom prst="rect">
            <a:avLst/>
          </a:prstGeom>
          <a:noFill/>
          <a:ln/>
        </p:spPr>
        <p:txBody>
          <a:bodyPr wrap="square" lIns="0" tIns="0" rIns="0" bIns="0" rtlCol="0" anchor="ctr"/>
          <a:lstStyle/>
          <a:p>
            <a:pPr indent="0" marL="0">
              <a:buNone/>
            </a:pPr>
            <a:r>
              <a:rPr lang="en-US" sz="1150" b="1" dirty="0">
                <a:solidFill>
                  <a:srgbClr val="1F5FBF"/>
                </a:solidFill>
                <a:latin typeface="Calibri" pitchFamily="34" charset="0"/>
                <a:ea typeface="Calibri" pitchFamily="34" charset="-122"/>
                <a:cs typeface="Calibri" pitchFamily="34" charset="-120"/>
              </a:rPr>
              <a:t>Saturday is the design day</a:t>
            </a:r>
            <a:endParaRPr lang="en-US" sz="1150" dirty="0"/>
          </a:p>
        </p:txBody>
      </p:sp>
      <p:sp>
        <p:nvSpPr>
          <p:cNvPr id="7" name="Text 4"/>
          <p:cNvSpPr txBox="1"/>
          <p:nvPr/>
        </p:nvSpPr>
        <p:spPr>
          <a:xfrm>
            <a:off x="5349240" y="1508760"/>
            <a:ext cx="3246120" cy="3063240"/>
          </a:xfrm>
          <a:prstGeom prst="rect">
            <a:avLst/>
          </a:prstGeom>
          <a:noFill/>
          <a:ln/>
        </p:spPr>
        <p:txBody>
          <a:bodyPr wrap="square" lIns="635" tIns="635" rIns="635" bIns="635" rtlCol="0" anchor="t"/>
          <a:lstStyle/>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Saturday runs 55 percent of a weekend. Fair data shows Saturday 8 to 37 percent above Sunday.</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Weekend 3 Saturday: about 10,100 (9,600 to 10,500). Weekend 4 Saturday: about 9,400 with the concert pulse concentrated in the evening.</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Weekend 4 Saturday wins in 2 percent of simulations at the 10M act tier, and in every simulation above roughly a 20M act. Plan a flat top: size Weekends 3 and 4 the same.</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Programming moves peaks. The Colorado Renaissance Festival's themed pirate weekend is its busiest, and Minnesota's standing Sunday record came with a sold out Reba show.</a:t>
            </a:r>
            <a:endParaRPr lang="en-US" sz="950" dirty="0"/>
          </a:p>
        </p:txBody>
      </p:sp>
      <p:sp>
        <p:nvSpPr>
          <p:cNvPr id="8" name="Text 5"/>
          <p:cNvSpPr txBox="1"/>
          <p:nvPr/>
        </p:nvSpPr>
        <p:spPr>
          <a:xfrm>
            <a:off x="457200" y="4681728"/>
            <a:ext cx="8229600" cy="347472"/>
          </a:xfrm>
          <a:prstGeom prst="rect">
            <a:avLst/>
          </a:prstGeom>
          <a:noFill/>
          <a:ln/>
        </p:spPr>
        <p:txBody>
          <a:bodyPr wrap="square" lIns="0" tIns="0" rIns="0" bIns="0" rtlCol="0" anchor="b"/>
          <a:lstStyle/>
          <a:p>
            <a:pPr indent="0" marL="0">
              <a:buNone/>
            </a:pPr>
            <a:r>
              <a:rPr lang="en-US" sz="800" dirty="0">
                <a:solidFill>
                  <a:srgbClr val="5B6470"/>
                </a:solidFill>
                <a:latin typeface="Calibri" pitchFamily="34" charset="0"/>
                <a:ea typeface="Calibri" pitchFamily="34" charset="-122"/>
                <a:cs typeface="Calibri" pitchFamily="34" charset="-120"/>
              </a:rPr>
              <a:t>Minnesota State Fair daily attendance 2022 to 2024. Colorado Springs Gazette 2026. Star Tribune 2026 attendance tracker. Sheet Weekends.</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0B2545"/>
                </a:solidFill>
                <a:latin typeface="Cambria" pitchFamily="34" charset="0"/>
                <a:ea typeface="Cambria" pitchFamily="34" charset="-122"/>
                <a:cs typeface="Cambria" pitchFamily="34" charset="-120"/>
              </a:rPr>
              <a:t>Weather swings most; reach is the biggest lever</a:t>
            </a:r>
            <a:endParaRPr lang="en-US" sz="2400" dirty="0"/>
          </a:p>
        </p:txBody>
      </p:sp>
      <p:graphicFrame>
        <p:nvGraphicFramePr>
          <p:cNvPr id="3" name="Chart 0" descr=""/>
          <p:cNvGraphicFramePr/>
          <p:nvPr/>
        </p:nvGraphicFramePr>
        <p:xfrm>
          <a:off x="457200" y="1097280"/>
          <a:ext cx="4754880" cy="329184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440680" y="1097280"/>
            <a:ext cx="3246120" cy="3520440"/>
          </a:xfrm>
          <a:prstGeom prst="roundRect">
            <a:avLst>
              <a:gd name="adj" fmla="val 2254"/>
            </a:avLst>
          </a:prstGeom>
          <a:solidFill>
            <a:srgbClr val="E8EFFA"/>
          </a:solidFill>
          <a:ln w="12700">
            <a:solidFill>
              <a:srgbClr val="E8EFFA"/>
            </a:solidFill>
            <a:prstDash val="solid"/>
          </a:ln>
        </p:spPr>
      </p:sp>
      <p:sp>
        <p:nvSpPr>
          <p:cNvPr id="5" name="Text 2"/>
          <p:cNvSpPr txBox="1"/>
          <p:nvPr/>
        </p:nvSpPr>
        <p:spPr>
          <a:xfrm>
            <a:off x="5577840" y="1188720"/>
            <a:ext cx="3017520" cy="274320"/>
          </a:xfrm>
          <a:prstGeom prst="rect">
            <a:avLst/>
          </a:prstGeom>
          <a:noFill/>
          <a:ln/>
        </p:spPr>
        <p:txBody>
          <a:bodyPr wrap="square" lIns="0" tIns="0" rIns="0" bIns="0" rtlCol="0" anchor="ctr"/>
          <a:lstStyle/>
          <a:p>
            <a:pPr indent="0" marL="0">
              <a:buNone/>
            </a:pPr>
            <a:r>
              <a:rPr lang="en-US" sz="1150" b="1" dirty="0">
                <a:solidFill>
                  <a:srgbClr val="1F5FBF"/>
                </a:solidFill>
                <a:latin typeface="Calibri" pitchFamily="34" charset="0"/>
                <a:ea typeface="Calibri" pitchFamily="34" charset="-122"/>
                <a:cs typeface="Calibri" pitchFamily="34" charset="-120"/>
              </a:rPr>
              <a:t>Treat the forecast as a tracking signal</a:t>
            </a:r>
            <a:endParaRPr lang="en-US" sz="1150" dirty="0"/>
          </a:p>
        </p:txBody>
      </p:sp>
      <p:sp>
        <p:nvSpPr>
          <p:cNvPr id="6" name="Text 3"/>
          <p:cNvSpPr txBox="1"/>
          <p:nvPr/>
        </p:nvSpPr>
        <p:spPr>
          <a:xfrm>
            <a:off x="5532120" y="1508760"/>
            <a:ext cx="3063240" cy="3063240"/>
          </a:xfrm>
          <a:prstGeom prst="rect">
            <a:avLst/>
          </a:prstGeom>
          <a:noFill/>
          <a:ln/>
        </p:spPr>
        <p:txBody>
          <a:bodyPr wrap="square" lIns="635" tIns="635" rIns="635" bIns="635" rtlCol="0" anchor="t"/>
          <a:lstStyle/>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Leading indicators: Google Trends for the festival name in August and September versus 2024 and 2025, social follower growth, press mentions, vendor applications, any advance sales.</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Decision rule: search interest up more than 30 percent year over year by mid September moves the anniversary lift to the high case (7 percent) and Weekend 3 and 4 booths with it. Flat interest drops it to the low case.</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Precedent: during Disneyland's 50th, Anaheim hotel occupancy ran up 9 percent year over year in July and resort trolley ridership rose 24 percent in the launch month, both visible before the year closed.</a:t>
            </a:r>
            <a:endParaRPr lang="en-US" sz="950" dirty="0"/>
          </a:p>
        </p:txBody>
      </p:sp>
      <p:sp>
        <p:nvSpPr>
          <p:cNvPr id="7" name="Text 4"/>
          <p:cNvSpPr txBox="1"/>
          <p:nvPr/>
        </p:nvSpPr>
        <p:spPr>
          <a:xfrm>
            <a:off x="457200" y="4681728"/>
            <a:ext cx="8229600" cy="347472"/>
          </a:xfrm>
          <a:prstGeom prst="rect">
            <a:avLst/>
          </a:prstGeom>
          <a:noFill/>
          <a:ln/>
        </p:spPr>
        <p:txBody>
          <a:bodyPr wrap="square" lIns="0" tIns="0" rIns="0" bIns="0" rtlCol="0" anchor="b"/>
          <a:lstStyle/>
          <a:p>
            <a:pPr indent="0" marL="0">
              <a:buNone/>
            </a:pPr>
            <a:r>
              <a:rPr lang="en-US" sz="800" dirty="0">
                <a:solidFill>
                  <a:srgbClr val="5B6470"/>
                </a:solidFill>
                <a:latin typeface="Calibri" pitchFamily="34" charset="0"/>
                <a:ea typeface="Calibri" pitchFamily="34" charset="-122"/>
                <a:cs typeface="Calibri" pitchFamily="34" charset="-120"/>
              </a:rPr>
              <a:t>Delta from the fair weather total at each driver's 10th and 90th percentile, others at mode. Weather anchored to Minnesota 2024, one rain day at 81,231 against a normal 135,000. Orange County Business Journal 2005 on Anaheim indicators. Sheet Sensitivity.</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0B2545"/>
                </a:solidFill>
                <a:latin typeface="Cambria" pitchFamily="34" charset="0"/>
                <a:ea typeface="Cambria" pitchFamily="34" charset="-122"/>
                <a:cs typeface="Cambria" pitchFamily="34" charset="-120"/>
              </a:rPr>
              <a:t>Part 2 method: fixed demand, booths as capacity</a:t>
            </a:r>
            <a:endParaRPr lang="en-US" sz="2400" dirty="0"/>
          </a:p>
        </p:txBody>
      </p:sp>
      <p:sp>
        <p:nvSpPr>
          <p:cNvPr id="3" name="Shape 1"/>
          <p:cNvSpPr/>
          <p:nvPr/>
        </p:nvSpPr>
        <p:spPr>
          <a:xfrm>
            <a:off x="457200" y="1097280"/>
            <a:ext cx="2286000" cy="1508760"/>
          </a:xfrm>
          <a:prstGeom prst="roundRect">
            <a:avLst>
              <a:gd name="adj" fmla="val 4848"/>
            </a:avLst>
          </a:prstGeom>
          <a:solidFill>
            <a:srgbClr val="0B2545"/>
          </a:solidFill>
          <a:ln w="12700">
            <a:solidFill>
              <a:srgbClr val="0B2545"/>
            </a:solidFill>
            <a:prstDash val="solid"/>
          </a:ln>
        </p:spPr>
      </p:sp>
      <p:sp>
        <p:nvSpPr>
          <p:cNvPr id="4" name="Text 2"/>
          <p:cNvSpPr txBox="1"/>
          <p:nvPr/>
        </p:nvSpPr>
        <p:spPr>
          <a:xfrm>
            <a:off x="594360" y="1188720"/>
            <a:ext cx="2011680" cy="2743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1. Design day demand</a:t>
            </a:r>
            <a:endParaRPr lang="en-US" sz="1300" dirty="0"/>
          </a:p>
        </p:txBody>
      </p:sp>
      <p:sp>
        <p:nvSpPr>
          <p:cNvPr id="5" name="Text 3"/>
          <p:cNvSpPr txBox="1"/>
          <p:nvPr/>
        </p:nvSpPr>
        <p:spPr>
          <a:xfrm>
            <a:off x="594360" y="1481328"/>
            <a:ext cx="2011680" cy="109728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Peak hour transactions on Weekend 3 Saturday: food 2,254, merchandise 542, activities 788. Peak hour is 15 to 18 percent of the day.</a:t>
            </a:r>
            <a:endParaRPr lang="en-US" sz="950" dirty="0"/>
          </a:p>
        </p:txBody>
      </p:sp>
      <p:sp>
        <p:nvSpPr>
          <p:cNvPr id="6" name="Shape 4"/>
          <p:cNvSpPr/>
          <p:nvPr/>
        </p:nvSpPr>
        <p:spPr>
          <a:xfrm>
            <a:off x="3429000" y="1097280"/>
            <a:ext cx="2286000" cy="1508760"/>
          </a:xfrm>
          <a:prstGeom prst="roundRect">
            <a:avLst>
              <a:gd name="adj" fmla="val 4848"/>
            </a:avLst>
          </a:prstGeom>
          <a:solidFill>
            <a:srgbClr val="1F5FBF"/>
          </a:solidFill>
          <a:ln w="12700">
            <a:solidFill>
              <a:srgbClr val="1F5FBF"/>
            </a:solidFill>
            <a:prstDash val="solid"/>
          </a:ln>
        </p:spPr>
      </p:sp>
      <p:sp>
        <p:nvSpPr>
          <p:cNvPr id="7" name="Text 5"/>
          <p:cNvSpPr txBox="1"/>
          <p:nvPr/>
        </p:nvSpPr>
        <p:spPr>
          <a:xfrm>
            <a:off x="3566160" y="1188720"/>
            <a:ext cx="2011680" cy="2743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2. Queue floor</a:t>
            </a:r>
            <a:endParaRPr lang="en-US" sz="1300" dirty="0"/>
          </a:p>
        </p:txBody>
      </p:sp>
      <p:sp>
        <p:nvSpPr>
          <p:cNvPr id="8" name="Text 6"/>
          <p:cNvSpPr txBox="1"/>
          <p:nvPr/>
        </p:nvSpPr>
        <p:spPr>
          <a:xfrm>
            <a:off x="3566160" y="1481328"/>
            <a:ext cx="2011680" cy="109728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Erlang C (M/M/c) for the fewest booths that hold the wait target: 48 food (10 min), 28 merchandise (5 min), 14 activities (15 min).</a:t>
            </a:r>
            <a:endParaRPr lang="en-US" sz="950" dirty="0"/>
          </a:p>
        </p:txBody>
      </p:sp>
      <p:sp>
        <p:nvSpPr>
          <p:cNvPr id="9" name="Shape 7"/>
          <p:cNvSpPr/>
          <p:nvPr/>
        </p:nvSpPr>
        <p:spPr>
          <a:xfrm>
            <a:off x="6400800" y="1097280"/>
            <a:ext cx="2286000" cy="1508760"/>
          </a:xfrm>
          <a:prstGeom prst="roundRect">
            <a:avLst>
              <a:gd name="adj" fmla="val 4848"/>
            </a:avLst>
          </a:prstGeom>
          <a:solidFill>
            <a:srgbClr val="F2B632"/>
          </a:solidFill>
          <a:ln w="12700">
            <a:solidFill>
              <a:srgbClr val="F2B632"/>
            </a:solidFill>
            <a:prstDash val="solid"/>
          </a:ln>
        </p:spPr>
      </p:sp>
      <p:sp>
        <p:nvSpPr>
          <p:cNvPr id="10" name="Text 8"/>
          <p:cNvSpPr txBox="1"/>
          <p:nvPr/>
        </p:nvSpPr>
        <p:spPr>
          <a:xfrm>
            <a:off x="6537960" y="1188720"/>
            <a:ext cx="2011680" cy="274320"/>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3. Economics</a:t>
            </a:r>
            <a:endParaRPr lang="en-US" sz="1300" dirty="0"/>
          </a:p>
        </p:txBody>
      </p:sp>
      <p:sp>
        <p:nvSpPr>
          <p:cNvPr id="11" name="Text 9"/>
          <p:cNvSpPr txBox="1"/>
          <p:nvPr/>
        </p:nvSpPr>
        <p:spPr>
          <a:xfrm>
            <a:off x="6537960" y="1481328"/>
            <a:ext cx="2011680" cy="1097280"/>
          </a:xfrm>
          <a:prstGeom prst="rect">
            <a:avLst/>
          </a:prstGeom>
          <a:noFill/>
          <a:ln/>
        </p:spPr>
        <p:txBody>
          <a:bodyPr wrap="square" lIns="0" tIns="0" rIns="0" bIns="0" rtlCol="0" anchor="ctr"/>
          <a:lstStyle/>
          <a:p>
            <a:pPr indent="0" marL="0">
              <a:buNone/>
            </a:pPr>
            <a:r>
              <a:rPr lang="en-US" sz="950" dirty="0">
                <a:solidFill>
                  <a:srgbClr val="0B2545"/>
                </a:solidFill>
                <a:latin typeface="Calibri" pitchFamily="34" charset="0"/>
                <a:ea typeface="Calibri" pitchFamily="34" charset="-122"/>
                <a:cs typeface="Calibri" pitchFamily="34" charset="-120"/>
              </a:rPr>
              <a:t>Booth fee plus revenue share minus organizer cost per booth, a vendor sales floor, and a saturating capture curve, the retail space elasticity idea. Real spend per guest carried at minus 4 percent.</a:t>
            </a:r>
            <a:endParaRPr lang="en-US" sz="9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2788920"/>
          <a:ext cx="6858000" cy="914400"/>
        </p:xfrm>
        <a:graphic>
          <a:graphicData uri="http://schemas.openxmlformats.org/drawingml/2006/table">
            <a:tbl>
              <a:tblPr/>
              <a:tblGrid>
                <a:gridCol w="1417320"/>
                <a:gridCol w="640080"/>
                <a:gridCol w="868680"/>
                <a:gridCol w="822960"/>
                <a:gridCol w="1234440"/>
                <a:gridCol w="685800"/>
                <a:gridCol w="594360"/>
                <a:gridCol w="777240"/>
                <a:gridCol w="1188720"/>
              </a:tblGrid>
              <a:tr h="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Category</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Spend</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Participation</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Tx per guest</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Service</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Fee</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Share</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Org. cost</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Vendor floor</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r>
              <a:tr h="0">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Food &amp; Beverage</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$21.50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77.5%</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1.6</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2 points, 2.5 min</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$2,000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12%</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$900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$18,000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Merchandise</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$16.00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32.5%</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1.1</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1 point, 3 min</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$900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$500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$5,000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Activities (2 units)</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$8.50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40%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1.3</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60 guests/hr</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$700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$600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$4,000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bl>
          </a:graphicData>
        </a:graphic>
      </p:graphicFrame>
      <p:sp>
        <p:nvSpPr>
          <p:cNvPr id="13" name="Text 10"/>
          <p:cNvSpPr txBox="1"/>
          <p:nvPr/>
        </p:nvSpPr>
        <p:spPr>
          <a:xfrm>
            <a:off x="457200" y="4681728"/>
            <a:ext cx="8229600" cy="347472"/>
          </a:xfrm>
          <a:prstGeom prst="rect">
            <a:avLst/>
          </a:prstGeom>
          <a:noFill/>
          <a:ln/>
        </p:spPr>
        <p:txBody>
          <a:bodyPr wrap="square" lIns="0" tIns="0" rIns="0" bIns="0" rtlCol="0" anchor="b"/>
          <a:lstStyle/>
          <a:p>
            <a:pPr indent="0" marL="0">
              <a:buNone/>
            </a:pPr>
            <a:r>
              <a:rPr lang="en-US" sz="800" dirty="0">
                <a:solidFill>
                  <a:srgbClr val="5B6470"/>
                </a:solidFill>
                <a:latin typeface="Calibri" pitchFamily="34" charset="0"/>
                <a:ea typeface="Calibri" pitchFamily="34" charset="-122"/>
                <a:cs typeface="Calibri" pitchFamily="34" charset="-120"/>
              </a:rPr>
              <a:t>Spend, participation and space from the case (midpoints). Service rates, fees, revenue share, organizer cost and vendor floors are team assumptions; fee and share are per season. Capture reaches 85% at the queue floor and rises with diminishing returns (Eisend 2014 space elasticity near 0.17). Sheets Part2 and ErlangC; booths.py.</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0B2545"/>
                </a:solidFill>
                <a:latin typeface="Cambria" pitchFamily="34" charset="0"/>
                <a:ea typeface="Cambria" pitchFamily="34" charset="-122"/>
                <a:cs typeface="Cambria" pitchFamily="34" charset="-120"/>
              </a:rPr>
              <a:t>Recommend 60 food, 28 merchandise, 16 activities</a:t>
            </a:r>
            <a:endParaRPr lang="en-US" sz="2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6858000" cy="914400"/>
        </p:xfrm>
        <a:graphic>
          <a:graphicData uri="http://schemas.openxmlformats.org/drawingml/2006/table">
            <a:tbl>
              <a:tblPr/>
              <a:tblGrid>
                <a:gridCol w="2103120"/>
                <a:gridCol w="548640"/>
                <a:gridCol w="777240"/>
                <a:gridCol w="1143000"/>
                <a:gridCol w="1188720"/>
                <a:gridCol w="1463040"/>
                <a:gridCol w="1005840"/>
              </a:tblGrid>
              <a:tr h="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Mix (F&amp;B / Merch / A&amp;E)</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Units</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F&amp;B capture</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F&amp;B sales per booth</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Merch sales per booth</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Peak wait F&amp;B / Merch / A&amp;E</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Organizer contribution</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r>
              <a:tr h="0">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Profit max  64 / 28 / 14</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120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92%</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$22,900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$10,400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0.0 / 2.6 / 0.9 min</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$305,400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1F5FBF"/>
                          </a:solidFill>
                          <a:latin typeface="Calibri" pitchFamily="34" charset="0"/>
                          <a:ea typeface="Calibri" pitchFamily="34" charset="-122"/>
                          <a:cs typeface="Calibri" pitchFamily="34" charset="-120"/>
                        </a:rPr>
                        <a:t>Balanced  60 / 28 / 16  (recommended)</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120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91%</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$24,000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$10,400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0.0 / 2.6 / 0.1 min</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b="1" dirty="0">
                          <a:solidFill>
                            <a:srgbClr val="1B1B1B"/>
                          </a:solidFill>
                          <a:latin typeface="Calibri" pitchFamily="34" charset="0"/>
                          <a:ea typeface="Calibri" pitchFamily="34" charset="-122"/>
                          <a:cs typeface="Calibri" pitchFamily="34" charset="-120"/>
                        </a:rPr>
                        <a:t>$299,400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Variety  56 / 32 / 16</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120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89%</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$25,300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$9,400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0.0 / 0.2 / 0.1 min</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$294,700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bl>
          </a:graphicData>
        </a:graphic>
      </p:graphicFrame>
      <p:graphicFrame>
        <p:nvGraphicFramePr>
          <p:cNvPr id="4" name="Chart 0" descr=""/>
          <p:cNvGraphicFramePr/>
          <p:nvPr/>
        </p:nvGraphicFramePr>
        <p:xfrm>
          <a:off x="457200" y="2377440"/>
          <a:ext cx="3291840" cy="219456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3931920" y="2377440"/>
            <a:ext cx="4754880" cy="2240280"/>
          </a:xfrm>
          <a:prstGeom prst="roundRect">
            <a:avLst>
              <a:gd name="adj" fmla="val 3265"/>
            </a:avLst>
          </a:prstGeom>
          <a:solidFill>
            <a:srgbClr val="E8EFFA"/>
          </a:solidFill>
          <a:ln w="12700">
            <a:solidFill>
              <a:srgbClr val="E8EFFA"/>
            </a:solidFill>
            <a:prstDash val="solid"/>
          </a:ln>
        </p:spPr>
      </p:sp>
      <p:sp>
        <p:nvSpPr>
          <p:cNvPr id="6" name="Text 2"/>
          <p:cNvSpPr txBox="1"/>
          <p:nvPr/>
        </p:nvSpPr>
        <p:spPr>
          <a:xfrm>
            <a:off x="4023360" y="2468880"/>
            <a:ext cx="4572000" cy="2103120"/>
          </a:xfrm>
          <a:prstGeom prst="rect">
            <a:avLst/>
          </a:prstGeom>
          <a:noFill/>
          <a:ln/>
        </p:spPr>
        <p:txBody>
          <a:bodyPr wrap="square" lIns="635" tIns="635" rIns="635" bIns="635" rtlCol="0" anchor="t"/>
          <a:lstStyle/>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Food gets 60 because it is the destination category and the best economics per unit, but the 61st booth adds under 1 percent capture while cutting every vendor's take.</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Merchandise holds at its queue floor of 28. Activities gets 16, two above its floor, for the family identity and for the Weekend 4 concert evening when arrivals bunch.</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Robust to the forecast range and to trade-down: in the low case (59,100) with real spend down 4 percent, food sales per booth are $22,900, still above the $18,000 floor.</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Flex rule for Weekends 3 and 4: if food waits pass 10 minutes at lunch, convert two activity slots to food for the weekend.</a:t>
            </a:r>
            <a:endParaRPr lang="en-US" sz="950" dirty="0"/>
          </a:p>
        </p:txBody>
      </p:sp>
      <p:sp>
        <p:nvSpPr>
          <p:cNvPr id="7" name="Text 3"/>
          <p:cNvSpPr txBox="1"/>
          <p:nvPr/>
        </p:nvSpPr>
        <p:spPr>
          <a:xfrm>
            <a:off x="457200" y="4681728"/>
            <a:ext cx="8229600" cy="347472"/>
          </a:xfrm>
          <a:prstGeom prst="rect">
            <a:avLst/>
          </a:prstGeom>
          <a:noFill/>
          <a:ln/>
        </p:spPr>
        <p:txBody>
          <a:bodyPr wrap="square" lIns="0" tIns="0" rIns="0" bIns="0" rtlCol="0" anchor="b"/>
          <a:lstStyle/>
          <a:p>
            <a:pPr indent="0" marL="0">
              <a:buNone/>
            </a:pPr>
            <a:r>
              <a:rPr lang="en-US" sz="800" dirty="0">
                <a:solidFill>
                  <a:srgbClr val="5B6470"/>
                </a:solidFill>
                <a:latin typeface="Calibri" pitchFamily="34" charset="0"/>
                <a:ea typeface="Calibri" pitchFamily="34" charset="-122"/>
                <a:cs typeface="Calibri" pitchFamily="34" charset="-120"/>
              </a:rPr>
              <a:t>Season attendance 62,100 and design day 10,100 from Part 1. Contribution equals fees plus revenue share minus organizer cost. Vendor floors are sales a vendor needs to return next year. Profit max found by grid search over all 120-unit mixes (booths.py). Sheet Part2.</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0B2545"/>
                </a:solidFill>
                <a:latin typeface="Cambria" pitchFamily="34" charset="0"/>
                <a:ea typeface="Cambria" pitchFamily="34" charset="-122"/>
                <a:cs typeface="Cambria" pitchFamily="34" charset="-120"/>
              </a:rPr>
              <a:t>Option B (Fridays) adds the most per dollar; A loses money</a:t>
            </a:r>
            <a:endParaRPr lang="en-US" sz="2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6858000" cy="914400"/>
        </p:xfrm>
        <a:graphic>
          <a:graphicData uri="http://schemas.openxmlformats.org/drawingml/2006/table">
            <a:tbl>
              <a:tblPr/>
              <a:tblGrid>
                <a:gridCol w="1371600"/>
                <a:gridCol w="777240"/>
                <a:gridCol w="822960"/>
                <a:gridCol w="1234440"/>
                <a:gridCol w="685800"/>
                <a:gridCol w="640080"/>
                <a:gridCol w="777240"/>
                <a:gridCol w="777240"/>
                <a:gridCol w="1143000"/>
              </a:tblGrid>
              <a:tr h="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Option</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Hours added</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Gross demand</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Net new (after shifting)</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Revenue</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Cost</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Net</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Capacity factor</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Peak relief</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r>
              <a:tr h="0">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A. Extend to 12 hours</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+16 (20%)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4,300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1,700 (+2.8%)</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$30k</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$38k</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b="1" dirty="0">
                          <a:solidFill>
                            <a:srgbClr val="D7263D"/>
                          </a:solidFill>
                          <a:latin typeface="Calibri" pitchFamily="34" charset="0"/>
                          <a:ea typeface="Calibri" pitchFamily="34" charset="-122"/>
                          <a:cs typeface="Calibri" pitchFamily="34" charset="-120"/>
                        </a:rPr>
                        <a:t>minus $8k</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35%</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within day only</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1B1B1B"/>
                          </a:solidFill>
                          <a:latin typeface="Calibri" pitchFamily="34" charset="0"/>
                          <a:ea typeface="Calibri" pitchFamily="34" charset="-122"/>
                          <a:cs typeface="Calibri" pitchFamily="34" charset="-120"/>
                        </a:rPr>
                        <a:t>B. Add Fridays</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+40 (50%)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15,400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10,000 (+16.1%)</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$174k</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$93k</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b="1" dirty="0">
                          <a:solidFill>
                            <a:srgbClr val="1F5FBF"/>
                          </a:solidFill>
                          <a:latin typeface="Calibri" pitchFamily="34" charset="0"/>
                          <a:ea typeface="Calibri" pitchFamily="34" charset="-122"/>
                          <a:cs typeface="Calibri" pitchFamily="34" charset="-120"/>
                        </a:rPr>
                        <a:t>+$82k</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50%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5,400 off weekends</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C. Fifth weekend</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+20 (25%)</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10,100</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6,100 (+9.8%)</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$106k</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$69k</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+$36k</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65%</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900" dirty="0">
                          <a:solidFill>
                            <a:srgbClr val="1B1B1B"/>
                          </a:solidFill>
                          <a:latin typeface="Calibri" pitchFamily="34" charset="0"/>
                          <a:ea typeface="Calibri" pitchFamily="34" charset="-122"/>
                          <a:cs typeface="Calibri" pitchFamily="34" charset="-120"/>
                        </a:rPr>
                        <a:t>4,000 off weekends</a:t>
                      </a:r>
                      <a:endParaRPr lang="en-US" sz="90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bl>
          </a:graphicData>
        </a:graphic>
      </p:graphicFrame>
      <p:graphicFrame>
        <p:nvGraphicFramePr>
          <p:cNvPr id="4" name="Chart 0" descr=""/>
          <p:cNvGraphicFramePr/>
          <p:nvPr/>
        </p:nvGraphicFramePr>
        <p:xfrm>
          <a:off x="457200" y="2423160"/>
          <a:ext cx="3291840" cy="214884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3931920" y="2423160"/>
            <a:ext cx="4754880" cy="2194560"/>
          </a:xfrm>
          <a:prstGeom prst="roundRect">
            <a:avLst>
              <a:gd name="adj" fmla="val 3333"/>
            </a:avLst>
          </a:prstGeom>
          <a:solidFill>
            <a:srgbClr val="E8EFFA"/>
          </a:solidFill>
          <a:ln w="12700">
            <a:solidFill>
              <a:srgbClr val="E8EFFA"/>
            </a:solidFill>
            <a:prstDash val="solid"/>
          </a:ln>
        </p:spPr>
      </p:sp>
      <p:sp>
        <p:nvSpPr>
          <p:cNvPr id="6" name="Text 2"/>
          <p:cNvSpPr txBox="1"/>
          <p:nvPr/>
        </p:nvSpPr>
        <p:spPr>
          <a:xfrm>
            <a:off x="4023360" y="2514600"/>
            <a:ext cx="4572000" cy="2057400"/>
          </a:xfrm>
          <a:prstGeom prst="rect">
            <a:avLst/>
          </a:prstGeom>
          <a:noFill/>
          <a:ln/>
        </p:spPr>
        <p:txBody>
          <a:bodyPr wrap="square" lIns="635" tIns="635" rIns="635" bIns="635" rtlCol="0" anchor="t"/>
          <a:lstStyle/>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Load duration logic: capacity only pays where demand fills it. Option A adds hours at the thin ends of the arrival curve, and most of what it captures is pulled forward from hours already open, the Thanksgiving retail hours pattern.</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Option B is Thursday Night Football: weaker per day (Friday at 45 percent of a Saturday), incremental inventory, and the only option that moves real load off the Saturday peak.</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Option C is the 17th game: it pays only if demand exceeds supply. Late season weather and holiday collisions add risk that A and B do not carry.</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Costs carry the 4.6 percent inflation expectation; revenue per guest carries the 4 percent real trade-down.</a:t>
            </a:r>
            <a:endParaRPr lang="en-US" sz="950" dirty="0"/>
          </a:p>
        </p:txBody>
      </p:sp>
      <p:sp>
        <p:nvSpPr>
          <p:cNvPr id="7" name="Text 3"/>
          <p:cNvSpPr txBox="1"/>
          <p:nvPr/>
        </p:nvSpPr>
        <p:spPr>
          <a:xfrm>
            <a:off x="457200" y="4681728"/>
            <a:ext cx="8229600" cy="347472"/>
          </a:xfrm>
          <a:prstGeom prst="rect">
            <a:avLst/>
          </a:prstGeom>
          <a:noFill/>
          <a:ln/>
        </p:spPr>
        <p:txBody>
          <a:bodyPr wrap="square" lIns="0" tIns="0" rIns="0" bIns="0" rtlCol="0" anchor="b"/>
          <a:lstStyle/>
          <a:p>
            <a:pPr indent="0" marL="0">
              <a:buNone/>
            </a:pPr>
            <a:r>
              <a:rPr lang="en-US" sz="800" dirty="0">
                <a:solidFill>
                  <a:srgbClr val="5B6470"/>
                </a:solidFill>
                <a:latin typeface="Calibri" pitchFamily="34" charset="0"/>
                <a:ea typeface="Calibri" pitchFamily="34" charset="-122"/>
                <a:cs typeface="Calibri" pitchFamily="34" charset="-120"/>
              </a:rPr>
              <a:t>Organizer revenue $17.46 per guest (admission $12, revenue share on spend, parking). Labor 50 staff at $22/hr escalated 4.6%. Redistribution 60% (A), 35% (B), 40% (C). Friday demand 45% of Saturday (fair data shows weekdays consistently lowest). Fifth weekend at 65% of an average weekend. Sheet Part3; options.py.</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0B2545"/>
                </a:solidFill>
                <a:latin typeface="Cambria" pitchFamily="34" charset="0"/>
                <a:ea typeface="Cambria" pitchFamily="34" charset="-122"/>
                <a:cs typeface="Cambria" pitchFamily="34" charset="-120"/>
              </a:rPr>
              <a:t>Pilot Fridays in 2027, paired with date based pricing</a:t>
            </a:r>
            <a:endParaRPr lang="en-US" sz="2400" dirty="0"/>
          </a:p>
        </p:txBody>
      </p:sp>
      <p:graphicFrame>
        <p:nvGraphicFramePr>
          <p:cNvPr id="3" name="Chart 0" descr=""/>
          <p:cNvGraphicFramePr/>
          <p:nvPr/>
        </p:nvGraphicFramePr>
        <p:xfrm>
          <a:off x="457200" y="1097280"/>
          <a:ext cx="3108960" cy="2194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3337560"/>
            <a:ext cx="3108960" cy="457200"/>
          </a:xfrm>
          <a:prstGeom prst="rect">
            <a:avLst/>
          </a:prstGeom>
          <a:noFill/>
          <a:ln/>
        </p:spPr>
        <p:txBody>
          <a:bodyPr wrap="square" lIns="635" tIns="635" rIns="635" bIns="635" rtlCol="0" anchor="t"/>
          <a:lstStyle/>
          <a:p>
            <a:pPr indent="0" marL="0">
              <a:buNone/>
            </a:pPr>
            <a:r>
              <a:rPr lang="en-US" sz="900" dirty="0">
                <a:solidFill>
                  <a:srgbClr val="5B6470"/>
                </a:solidFill>
                <a:latin typeface="Calibri" pitchFamily="34" charset="0"/>
                <a:ea typeface="Calibri" pitchFamily="34" charset="-122"/>
                <a:cs typeface="Calibri" pitchFamily="34" charset="-120"/>
              </a:rPr>
              <a:t>Weights: financial 35%, guest experience 30%, feasibility 20%, risk 15%. Scores 1 to 5.</a:t>
            </a:r>
            <a:endParaRPr lang="en-US" sz="900" dirty="0"/>
          </a:p>
        </p:txBody>
      </p:sp>
      <p:sp>
        <p:nvSpPr>
          <p:cNvPr id="5" name="Shape 2"/>
          <p:cNvSpPr/>
          <p:nvPr/>
        </p:nvSpPr>
        <p:spPr>
          <a:xfrm>
            <a:off x="3749040" y="1097280"/>
            <a:ext cx="4937760" cy="3520440"/>
          </a:xfrm>
          <a:prstGeom prst="roundRect">
            <a:avLst>
              <a:gd name="adj" fmla="val 2078"/>
            </a:avLst>
          </a:prstGeom>
          <a:solidFill>
            <a:srgbClr val="E8EFFA"/>
          </a:solidFill>
          <a:ln w="12700">
            <a:solidFill>
              <a:srgbClr val="E8EFFA"/>
            </a:solidFill>
            <a:prstDash val="solid"/>
          </a:ln>
        </p:spPr>
      </p:sp>
      <p:sp>
        <p:nvSpPr>
          <p:cNvPr id="6" name="Text 3"/>
          <p:cNvSpPr txBox="1"/>
          <p:nvPr/>
        </p:nvSpPr>
        <p:spPr>
          <a:xfrm>
            <a:off x="3840480" y="1188720"/>
            <a:ext cx="4754880" cy="3383280"/>
          </a:xfrm>
          <a:prstGeom prst="rect">
            <a:avLst/>
          </a:prstGeom>
          <a:noFill/>
          <a:ln/>
        </p:spPr>
        <p:txBody>
          <a:bodyPr wrap="square" lIns="635" tIns="635" rIns="635" bIns="635" rtlCol="0" anchor="t"/>
          <a:lstStyle/>
          <a:p>
            <a:pPr marL="152400" indent="-152400">
              <a:spcAft>
                <a:spcPts val="500"/>
              </a:spcAft>
              <a:buSzPct val="100000"/>
              <a:buChar char="•"/>
            </a:pPr>
            <a:r>
              <a:rPr lang="en-US" sz="930" dirty="0">
                <a:solidFill>
                  <a:srgbClr val="1B1B1B"/>
                </a:solidFill>
                <a:latin typeface="Calibri" pitchFamily="34" charset="0"/>
                <a:ea typeface="Calibri" pitchFamily="34" charset="-122"/>
                <a:cs typeface="Calibri" pitchFamily="34" charset="-120"/>
              </a:rPr>
              <a:t>Why a pilot. Vendor consent and weekday staffing are the binding risk. Two Fridays test demand and vendor economics for about $45k before committing to four. That is a real option, not a half measure.</a:t>
            </a:r>
            <a:endParaRPr lang="en-US" sz="930" dirty="0"/>
          </a:p>
          <a:p>
            <a:pPr marL="152400" indent="-152400">
              <a:spcAft>
                <a:spcPts val="500"/>
              </a:spcAft>
              <a:buSzPct val="100000"/>
              <a:buChar char="•"/>
            </a:pPr>
            <a:r>
              <a:rPr lang="en-US" sz="930" dirty="0">
                <a:solidFill>
                  <a:srgbClr val="1B1B1B"/>
                </a:solidFill>
                <a:latin typeface="Calibri" pitchFamily="34" charset="0"/>
                <a:ea typeface="Calibri" pitchFamily="34" charset="-122"/>
                <a:cs typeface="Calibri" pitchFamily="34" charset="-120"/>
              </a:rPr>
              <a:t>Why now. Trend adds about 1,500 a year and the neighboring ring ramps toward a 21,500 visit ceiling as awareness spreads (about +6,500 by 2030). The design day reaches roughly 11,900 by 2029 without any new capacity.</a:t>
            </a:r>
            <a:endParaRPr lang="en-US" sz="930" dirty="0"/>
          </a:p>
          <a:p>
            <a:pPr marL="152400" indent="-152400">
              <a:spcAft>
                <a:spcPts val="500"/>
              </a:spcAft>
              <a:buSzPct val="100000"/>
              <a:buChar char="•"/>
            </a:pPr>
            <a:r>
              <a:rPr lang="en-US" sz="930" dirty="0">
                <a:solidFill>
                  <a:srgbClr val="1B1B1B"/>
                </a:solidFill>
                <a:latin typeface="Calibri" pitchFamily="34" charset="0"/>
                <a:ea typeface="Calibri" pitchFamily="34" charset="-122"/>
                <a:cs typeface="Calibri" pitchFamily="34" charset="-120"/>
              </a:rPr>
              <a:t>Demand side first. Date based admission pricing and early entry incentives level load before capacity is built, the same logic utilities use before adding a peaker plant. Disney runs its parks on date based tickets.</a:t>
            </a:r>
            <a:endParaRPr lang="en-US" sz="930" dirty="0"/>
          </a:p>
          <a:p>
            <a:pPr marL="152400" indent="-152400">
              <a:spcAft>
                <a:spcPts val="500"/>
              </a:spcAft>
              <a:buSzPct val="100000"/>
              <a:buChar char="•"/>
            </a:pPr>
            <a:r>
              <a:rPr lang="en-US" sz="930" dirty="0">
                <a:solidFill>
                  <a:srgbClr val="1B1B1B"/>
                </a:solidFill>
                <a:latin typeface="Calibri" pitchFamily="34" charset="0"/>
                <a:ea typeface="Calibri" pitchFamily="34" charset="-122"/>
                <a:cs typeface="Calibri" pitchFamily="34" charset="-120"/>
              </a:rPr>
              <a:t>Macro fit. In a weak-sentiment year the cheap local Friday evening is exactly the staycation product; if sentiment recovers, Fridays inherit the travel-substitution demand rather than lose it.</a:t>
            </a:r>
            <a:endParaRPr lang="en-US" sz="930" dirty="0"/>
          </a:p>
          <a:p>
            <a:pPr marL="152400" indent="-152400">
              <a:spcAft>
                <a:spcPts val="500"/>
              </a:spcAft>
              <a:buSzPct val="100000"/>
              <a:buChar char="•"/>
            </a:pPr>
            <a:r>
              <a:rPr lang="en-US" sz="930" dirty="0">
                <a:solidFill>
                  <a:srgbClr val="1B1B1B"/>
                </a:solidFill>
                <a:latin typeface="Calibri" pitchFamily="34" charset="0"/>
                <a:ea typeface="Calibri" pitchFamily="34" charset="-122"/>
                <a:cs typeface="Calibri" pitchFamily="34" charset="-120"/>
              </a:rPr>
              <a:t>What to watch. Friday gate as a share of Saturday (go if above 40 percent), vendor renewal rate, Saturday peak occupancy, and per cap on Fridays.</a:t>
            </a:r>
            <a:endParaRPr lang="en-US" sz="930" dirty="0"/>
          </a:p>
          <a:p>
            <a:pPr marL="152400" indent="-152400">
              <a:spcAft>
                <a:spcPts val="500"/>
              </a:spcAft>
              <a:buSzPct val="100000"/>
              <a:buChar char="•"/>
            </a:pPr>
            <a:r>
              <a:rPr lang="en-US" sz="930" dirty="0">
                <a:solidFill>
                  <a:srgbClr val="1B1B1B"/>
                </a:solidFill>
                <a:latin typeface="Calibri" pitchFamily="34" charset="0"/>
                <a:ea typeface="Calibri" pitchFamily="34" charset="-122"/>
                <a:cs typeface="Calibri" pitchFamily="34" charset="-120"/>
              </a:rPr>
              <a:t>Do not budget 2027 off 2026. The anniversary is a one year pulse; plan on trend plus the diffusion ramp.</a:t>
            </a:r>
            <a:endParaRPr lang="en-US" sz="930" dirty="0"/>
          </a:p>
        </p:txBody>
      </p:sp>
      <p:sp>
        <p:nvSpPr>
          <p:cNvPr id="7" name="Text 4"/>
          <p:cNvSpPr txBox="1"/>
          <p:nvPr/>
        </p:nvSpPr>
        <p:spPr>
          <a:xfrm>
            <a:off x="457200" y="4681728"/>
            <a:ext cx="8229600" cy="347472"/>
          </a:xfrm>
          <a:prstGeom prst="rect">
            <a:avLst/>
          </a:prstGeom>
          <a:noFill/>
          <a:ln/>
        </p:spPr>
        <p:txBody>
          <a:bodyPr wrap="square" lIns="0" tIns="0" rIns="0" bIns="0" rtlCol="0" anchor="b"/>
          <a:lstStyle/>
          <a:p>
            <a:pPr indent="0" marL="0">
              <a:buNone/>
            </a:pPr>
            <a:r>
              <a:rPr lang="en-US" sz="800" dirty="0">
                <a:solidFill>
                  <a:srgbClr val="5B6470"/>
                </a:solidFill>
                <a:latin typeface="Calibri" pitchFamily="34" charset="0"/>
                <a:ea typeface="Calibri" pitchFamily="34" charset="-122"/>
                <a:cs typeface="Calibri" pitchFamily="34" charset="-120"/>
              </a:rPr>
              <a:t>Diffusion ramp from the capture rate model with q = 0.38 word of mouth (sheet Capture). 2029 design day = (season + 3 years of trend + outer ring ramp) x 30% x 55%.</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0B2545"/>
                </a:solidFill>
                <a:latin typeface="Cambria" pitchFamily="34" charset="0"/>
                <a:ea typeface="Cambria" pitchFamily="34" charset="-122"/>
                <a:cs typeface="Cambria" pitchFamily="34" charset="-120"/>
              </a:rPr>
              <a:t>Five things to validate before opening day</a:t>
            </a:r>
            <a:endParaRPr lang="en-US" sz="2400" dirty="0"/>
          </a:p>
        </p:txBody>
      </p:sp>
      <p:sp>
        <p:nvSpPr>
          <p:cNvPr id="3" name="Shape 1"/>
          <p:cNvSpPr/>
          <p:nvPr/>
        </p:nvSpPr>
        <p:spPr>
          <a:xfrm>
            <a:off x="457200" y="1097280"/>
            <a:ext cx="1572768" cy="3429000"/>
          </a:xfrm>
          <a:prstGeom prst="roundRect">
            <a:avLst>
              <a:gd name="adj" fmla="val 4651"/>
            </a:avLst>
          </a:prstGeom>
          <a:solidFill>
            <a:srgbClr val="E8EFFA"/>
          </a:solidFill>
          <a:ln w="12700">
            <a:solidFill>
              <a:srgbClr val="E8EFFA"/>
            </a:solidFill>
            <a:prstDash val="solid"/>
          </a:ln>
        </p:spPr>
      </p:sp>
      <p:sp>
        <p:nvSpPr>
          <p:cNvPr id="4" name="Shape 2"/>
          <p:cNvSpPr/>
          <p:nvPr/>
        </p:nvSpPr>
        <p:spPr>
          <a:xfrm>
            <a:off x="566928" y="1234440"/>
            <a:ext cx="365760" cy="365760"/>
          </a:xfrm>
          <a:prstGeom prst="ellipse">
            <a:avLst/>
          </a:prstGeom>
          <a:solidFill>
            <a:srgbClr val="0B2545"/>
          </a:solidFill>
          <a:ln w="12700">
            <a:solidFill>
              <a:srgbClr val="0B2545"/>
            </a:solidFill>
            <a:prstDash val="solid"/>
          </a:ln>
        </p:spPr>
      </p:sp>
      <p:sp>
        <p:nvSpPr>
          <p:cNvPr id="5" name="Text 3"/>
          <p:cNvSpPr txBox="1"/>
          <p:nvPr/>
        </p:nvSpPr>
        <p:spPr>
          <a:xfrm>
            <a:off x="566928" y="12344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txBox="1"/>
          <p:nvPr/>
        </p:nvSpPr>
        <p:spPr>
          <a:xfrm>
            <a:off x="548640" y="1691640"/>
            <a:ext cx="1389888" cy="365760"/>
          </a:xfrm>
          <a:prstGeom prst="rect">
            <a:avLst/>
          </a:prstGeom>
          <a:noFill/>
          <a:ln/>
        </p:spPr>
        <p:txBody>
          <a:bodyPr wrap="square" lIns="0" tIns="0" rIns="0" bIns="0" rtlCol="0" anchor="ctr"/>
          <a:lstStyle/>
          <a:p>
            <a:pPr indent="0" marL="0">
              <a:buNone/>
            </a:pPr>
            <a:r>
              <a:rPr lang="en-US" sz="1100" b="1" dirty="0">
                <a:solidFill>
                  <a:srgbClr val="1F5FBF"/>
                </a:solidFill>
                <a:latin typeface="Calibri" pitchFamily="34" charset="0"/>
                <a:ea typeface="Calibri" pitchFamily="34" charset="-122"/>
                <a:cs typeface="Calibri" pitchFamily="34" charset="-120"/>
              </a:rPr>
              <a:t>Concert act</a:t>
            </a:r>
            <a:endParaRPr lang="en-US" sz="1100" dirty="0"/>
          </a:p>
        </p:txBody>
      </p:sp>
      <p:sp>
        <p:nvSpPr>
          <p:cNvPr id="7" name="Text 5"/>
          <p:cNvSpPr txBox="1"/>
          <p:nvPr/>
        </p:nvSpPr>
        <p:spPr>
          <a:xfrm>
            <a:off x="502920" y="2057400"/>
            <a:ext cx="1481328" cy="2377440"/>
          </a:xfrm>
          <a:prstGeom prst="rect">
            <a:avLst/>
          </a:prstGeom>
          <a:noFill/>
          <a:ln/>
        </p:spPr>
        <p:txBody>
          <a:bodyPr wrap="square" lIns="635" tIns="635" rIns="635" bIns="635" rtlCol="0" anchor="t"/>
          <a:lstStyle/>
          <a:p>
            <a:pPr indent="0" marL="0">
              <a:buNone/>
            </a:pPr>
            <a:r>
              <a:rPr lang="en-US" sz="950" dirty="0">
                <a:solidFill>
                  <a:srgbClr val="1B1B1B"/>
                </a:solidFill>
                <a:latin typeface="Calibri" pitchFamily="34" charset="0"/>
                <a:ea typeface="Calibri" pitchFamily="34" charset="-122"/>
                <a:cs typeface="Calibri" pitchFamily="34" charset="-120"/>
              </a:rPr>
              <a:t>Pull the act's Spotify city list and Google Trends by metro. Above roughly 20M listeners the design day moves to Weekend 4 Saturday.</a:t>
            </a:r>
            <a:endParaRPr lang="en-US" sz="950" dirty="0"/>
          </a:p>
        </p:txBody>
      </p:sp>
      <p:sp>
        <p:nvSpPr>
          <p:cNvPr id="8" name="Shape 6"/>
          <p:cNvSpPr/>
          <p:nvPr/>
        </p:nvSpPr>
        <p:spPr>
          <a:xfrm>
            <a:off x="2121408" y="1097280"/>
            <a:ext cx="1572768" cy="3429000"/>
          </a:xfrm>
          <a:prstGeom prst="roundRect">
            <a:avLst>
              <a:gd name="adj" fmla="val 4651"/>
            </a:avLst>
          </a:prstGeom>
          <a:solidFill>
            <a:srgbClr val="E8EFFA"/>
          </a:solidFill>
          <a:ln w="12700">
            <a:solidFill>
              <a:srgbClr val="E8EFFA"/>
            </a:solidFill>
            <a:prstDash val="solid"/>
          </a:ln>
        </p:spPr>
      </p:sp>
      <p:sp>
        <p:nvSpPr>
          <p:cNvPr id="9" name="Shape 7"/>
          <p:cNvSpPr/>
          <p:nvPr/>
        </p:nvSpPr>
        <p:spPr>
          <a:xfrm>
            <a:off x="2231136" y="1234440"/>
            <a:ext cx="365760" cy="365760"/>
          </a:xfrm>
          <a:prstGeom prst="ellipse">
            <a:avLst/>
          </a:prstGeom>
          <a:solidFill>
            <a:srgbClr val="1F5FBF"/>
          </a:solidFill>
          <a:ln w="12700">
            <a:solidFill>
              <a:srgbClr val="1F5FBF"/>
            </a:solidFill>
            <a:prstDash val="solid"/>
          </a:ln>
        </p:spPr>
      </p:sp>
      <p:sp>
        <p:nvSpPr>
          <p:cNvPr id="10" name="Text 8"/>
          <p:cNvSpPr txBox="1"/>
          <p:nvPr/>
        </p:nvSpPr>
        <p:spPr>
          <a:xfrm>
            <a:off x="2231136" y="12344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2212848" y="1691640"/>
            <a:ext cx="1389888" cy="365760"/>
          </a:xfrm>
          <a:prstGeom prst="rect">
            <a:avLst/>
          </a:prstGeom>
          <a:noFill/>
          <a:ln/>
        </p:spPr>
        <p:txBody>
          <a:bodyPr wrap="square" lIns="0" tIns="0" rIns="0" bIns="0" rtlCol="0" anchor="ctr"/>
          <a:lstStyle/>
          <a:p>
            <a:pPr indent="0" marL="0">
              <a:buNone/>
            </a:pPr>
            <a:r>
              <a:rPr lang="en-US" sz="1100" b="1" dirty="0">
                <a:solidFill>
                  <a:srgbClr val="1F5FBF"/>
                </a:solidFill>
                <a:latin typeface="Calibri" pitchFamily="34" charset="0"/>
                <a:ea typeface="Calibri" pitchFamily="34" charset="-122"/>
                <a:cs typeface="Calibri" pitchFamily="34" charset="-120"/>
              </a:rPr>
              <a:t>Guest origin</a:t>
            </a:r>
            <a:endParaRPr lang="en-US" sz="1100" dirty="0"/>
          </a:p>
        </p:txBody>
      </p:sp>
      <p:sp>
        <p:nvSpPr>
          <p:cNvPr id="12" name="Text 10"/>
          <p:cNvSpPr txBox="1"/>
          <p:nvPr/>
        </p:nvSpPr>
        <p:spPr>
          <a:xfrm>
            <a:off x="2167128" y="2057400"/>
            <a:ext cx="1481328" cy="2377440"/>
          </a:xfrm>
          <a:prstGeom prst="rect">
            <a:avLst/>
          </a:prstGeom>
          <a:noFill/>
          <a:ln/>
        </p:spPr>
        <p:txBody>
          <a:bodyPr wrap="square" lIns="635" tIns="635" rIns="635" bIns="635" rtlCol="0" anchor="t"/>
          <a:lstStyle/>
          <a:p>
            <a:pPr indent="0" marL="0">
              <a:buNone/>
            </a:pPr>
            <a:r>
              <a:rPr lang="en-US" sz="950" dirty="0">
                <a:solidFill>
                  <a:srgbClr val="1B1B1B"/>
                </a:solidFill>
                <a:latin typeface="Calibri" pitchFamily="34" charset="0"/>
                <a:ea typeface="Calibri" pitchFamily="34" charset="-122"/>
                <a:cs typeface="Calibri" pitchFamily="34" charset="-120"/>
              </a:rPr>
              <a:t>Zip code intercept at the gate. Replaces the 70 / 25 / 5 split and recalibrates both capture rates in one season.</a:t>
            </a:r>
            <a:endParaRPr lang="en-US" sz="950" dirty="0"/>
          </a:p>
        </p:txBody>
      </p:sp>
      <p:sp>
        <p:nvSpPr>
          <p:cNvPr id="13" name="Shape 11"/>
          <p:cNvSpPr/>
          <p:nvPr/>
        </p:nvSpPr>
        <p:spPr>
          <a:xfrm>
            <a:off x="3785616" y="1097280"/>
            <a:ext cx="1572768" cy="3429000"/>
          </a:xfrm>
          <a:prstGeom prst="roundRect">
            <a:avLst>
              <a:gd name="adj" fmla="val 4651"/>
            </a:avLst>
          </a:prstGeom>
          <a:solidFill>
            <a:srgbClr val="E8EFFA"/>
          </a:solidFill>
          <a:ln w="12700">
            <a:solidFill>
              <a:srgbClr val="E8EFFA"/>
            </a:solidFill>
            <a:prstDash val="solid"/>
          </a:ln>
        </p:spPr>
      </p:sp>
      <p:sp>
        <p:nvSpPr>
          <p:cNvPr id="14" name="Shape 12"/>
          <p:cNvSpPr/>
          <p:nvPr/>
        </p:nvSpPr>
        <p:spPr>
          <a:xfrm>
            <a:off x="3895344" y="1234440"/>
            <a:ext cx="365760" cy="365760"/>
          </a:xfrm>
          <a:prstGeom prst="ellipse">
            <a:avLst/>
          </a:prstGeom>
          <a:solidFill>
            <a:srgbClr val="F2B632"/>
          </a:solidFill>
          <a:ln w="12700">
            <a:solidFill>
              <a:srgbClr val="F2B632"/>
            </a:solidFill>
            <a:prstDash val="solid"/>
          </a:ln>
        </p:spPr>
      </p:sp>
      <p:sp>
        <p:nvSpPr>
          <p:cNvPr id="15" name="Text 13"/>
          <p:cNvSpPr txBox="1"/>
          <p:nvPr/>
        </p:nvSpPr>
        <p:spPr>
          <a:xfrm>
            <a:off x="3895344" y="1234440"/>
            <a:ext cx="365760" cy="365760"/>
          </a:xfrm>
          <a:prstGeom prst="rect">
            <a:avLst/>
          </a:prstGeom>
          <a:noFill/>
          <a:ln/>
        </p:spPr>
        <p:txBody>
          <a:bodyPr wrap="square" lIns="0" tIns="0" rIns="0" bIns="0" rtlCol="0" anchor="ctr"/>
          <a:lstStyle/>
          <a:p>
            <a:pPr algn="ctr" indent="0" marL="0">
              <a:buNone/>
            </a:pPr>
            <a:r>
              <a:rPr lang="en-US" sz="1400" b="1" dirty="0">
                <a:solidFill>
                  <a:srgbClr val="0B2545"/>
                </a:solidFill>
                <a:latin typeface="Cambria" pitchFamily="34" charset="0"/>
                <a:ea typeface="Cambria" pitchFamily="34" charset="-122"/>
                <a:cs typeface="Cambria" pitchFamily="34" charset="-120"/>
              </a:rPr>
              <a:t>3</a:t>
            </a:r>
            <a:endParaRPr lang="en-US" sz="1400" dirty="0"/>
          </a:p>
        </p:txBody>
      </p:sp>
      <p:sp>
        <p:nvSpPr>
          <p:cNvPr id="16" name="Text 14"/>
          <p:cNvSpPr txBox="1"/>
          <p:nvPr/>
        </p:nvSpPr>
        <p:spPr>
          <a:xfrm>
            <a:off x="3877056" y="1691640"/>
            <a:ext cx="1389888" cy="365760"/>
          </a:xfrm>
          <a:prstGeom prst="rect">
            <a:avLst/>
          </a:prstGeom>
          <a:noFill/>
          <a:ln/>
        </p:spPr>
        <p:txBody>
          <a:bodyPr wrap="square" lIns="0" tIns="0" rIns="0" bIns="0" rtlCol="0" anchor="ctr"/>
          <a:lstStyle/>
          <a:p>
            <a:pPr indent="0" marL="0">
              <a:buNone/>
            </a:pPr>
            <a:r>
              <a:rPr lang="en-US" sz="1100" b="1" dirty="0">
                <a:solidFill>
                  <a:srgbClr val="1F5FBF"/>
                </a:solidFill>
                <a:latin typeface="Calibri" pitchFamily="34" charset="0"/>
                <a:ea typeface="Calibri" pitchFamily="34" charset="-122"/>
                <a:cs typeface="Calibri" pitchFamily="34" charset="-120"/>
              </a:rPr>
              <a:t>Marketing allocation</a:t>
            </a:r>
            <a:endParaRPr lang="en-US" sz="1100" dirty="0"/>
          </a:p>
        </p:txBody>
      </p:sp>
      <p:sp>
        <p:nvSpPr>
          <p:cNvPr id="17" name="Text 15"/>
          <p:cNvSpPr txBox="1"/>
          <p:nvPr/>
        </p:nvSpPr>
        <p:spPr>
          <a:xfrm>
            <a:off x="3831336" y="2057400"/>
            <a:ext cx="1481328" cy="2377440"/>
          </a:xfrm>
          <a:prstGeom prst="rect">
            <a:avLst/>
          </a:prstGeom>
          <a:noFill/>
          <a:ln/>
        </p:spPr>
        <p:txBody>
          <a:bodyPr wrap="square" lIns="635" tIns="635" rIns="635" bIns="635" rtlCol="0" anchor="t"/>
          <a:lstStyle/>
          <a:p>
            <a:pPr indent="0" marL="0">
              <a:buNone/>
            </a:pPr>
            <a:r>
              <a:rPr lang="en-US" sz="950" dirty="0">
                <a:solidFill>
                  <a:srgbClr val="1B1B1B"/>
                </a:solidFill>
                <a:latin typeface="Calibri" pitchFamily="34" charset="0"/>
                <a:ea typeface="Calibri" pitchFamily="34" charset="-122"/>
                <a:cs typeface="Calibri" pitchFamily="34" charset="-120"/>
              </a:rPr>
              <a:t>Confirm the local budget is held. Spreading evenly costs about 2,400 visits. Flight new money before Weekend 1.</a:t>
            </a:r>
            <a:endParaRPr lang="en-US" sz="950" dirty="0"/>
          </a:p>
        </p:txBody>
      </p:sp>
      <p:sp>
        <p:nvSpPr>
          <p:cNvPr id="18" name="Shape 16"/>
          <p:cNvSpPr/>
          <p:nvPr/>
        </p:nvSpPr>
        <p:spPr>
          <a:xfrm>
            <a:off x="5449824" y="1097280"/>
            <a:ext cx="1572768" cy="3429000"/>
          </a:xfrm>
          <a:prstGeom prst="roundRect">
            <a:avLst>
              <a:gd name="adj" fmla="val 4651"/>
            </a:avLst>
          </a:prstGeom>
          <a:solidFill>
            <a:srgbClr val="E8EFFA"/>
          </a:solidFill>
          <a:ln w="12700">
            <a:solidFill>
              <a:srgbClr val="E8EFFA"/>
            </a:solidFill>
            <a:prstDash val="solid"/>
          </a:ln>
        </p:spPr>
      </p:sp>
      <p:sp>
        <p:nvSpPr>
          <p:cNvPr id="19" name="Shape 17"/>
          <p:cNvSpPr/>
          <p:nvPr/>
        </p:nvSpPr>
        <p:spPr>
          <a:xfrm>
            <a:off x="5559552" y="1234440"/>
            <a:ext cx="365760" cy="365760"/>
          </a:xfrm>
          <a:prstGeom prst="ellipse">
            <a:avLst/>
          </a:prstGeom>
          <a:solidFill>
            <a:srgbClr val="0B2545"/>
          </a:solidFill>
          <a:ln w="12700">
            <a:solidFill>
              <a:srgbClr val="0B2545"/>
            </a:solidFill>
            <a:prstDash val="solid"/>
          </a:ln>
        </p:spPr>
      </p:sp>
      <p:sp>
        <p:nvSpPr>
          <p:cNvPr id="20" name="Text 18"/>
          <p:cNvSpPr txBox="1"/>
          <p:nvPr/>
        </p:nvSpPr>
        <p:spPr>
          <a:xfrm>
            <a:off x="5559552" y="12344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9"/>
          <p:cNvSpPr txBox="1"/>
          <p:nvPr/>
        </p:nvSpPr>
        <p:spPr>
          <a:xfrm>
            <a:off x="5541264" y="1691640"/>
            <a:ext cx="1389888" cy="365760"/>
          </a:xfrm>
          <a:prstGeom prst="rect">
            <a:avLst/>
          </a:prstGeom>
          <a:noFill/>
          <a:ln/>
        </p:spPr>
        <p:txBody>
          <a:bodyPr wrap="square" lIns="0" tIns="0" rIns="0" bIns="0" rtlCol="0" anchor="ctr"/>
          <a:lstStyle/>
          <a:p>
            <a:pPr indent="0" marL="0">
              <a:buNone/>
            </a:pPr>
            <a:r>
              <a:rPr lang="en-US" sz="1100" b="1" dirty="0">
                <a:solidFill>
                  <a:srgbClr val="1F5FBF"/>
                </a:solidFill>
                <a:latin typeface="Calibri" pitchFamily="34" charset="0"/>
                <a:ea typeface="Calibri" pitchFamily="34" charset="-122"/>
                <a:cs typeface="Calibri" pitchFamily="34" charset="-120"/>
              </a:rPr>
              <a:t>Weather and macro</a:t>
            </a:r>
            <a:endParaRPr lang="en-US" sz="1100" dirty="0"/>
          </a:p>
        </p:txBody>
      </p:sp>
      <p:sp>
        <p:nvSpPr>
          <p:cNvPr id="22" name="Text 20"/>
          <p:cNvSpPr txBox="1"/>
          <p:nvPr/>
        </p:nvSpPr>
        <p:spPr>
          <a:xfrm>
            <a:off x="5495544" y="2057400"/>
            <a:ext cx="1481328" cy="2377440"/>
          </a:xfrm>
          <a:prstGeom prst="rect">
            <a:avLst/>
          </a:prstGeom>
          <a:noFill/>
          <a:ln/>
        </p:spPr>
        <p:txBody>
          <a:bodyPr wrap="square" lIns="635" tIns="635" rIns="635" bIns="635" rtlCol="0" anchor="t"/>
          <a:lstStyle/>
          <a:p>
            <a:pPr indent="0" marL="0">
              <a:buNone/>
            </a:pPr>
            <a:r>
              <a:rPr lang="en-US" sz="950" dirty="0">
                <a:solidFill>
                  <a:srgbClr val="1B1B1B"/>
                </a:solidFill>
                <a:latin typeface="Calibri" pitchFamily="34" charset="0"/>
                <a:ea typeface="Calibri" pitchFamily="34" charset="-122"/>
                <a:cs typeface="Calibri" pitchFamily="34" charset="-120"/>
              </a:rPr>
              <a:t>Largest swing in the model. Pre agree a rain day playbook. Re-read gas prices and sentiment in early September and move the macro driver.</a:t>
            </a:r>
            <a:endParaRPr lang="en-US" sz="950" dirty="0"/>
          </a:p>
        </p:txBody>
      </p:sp>
      <p:sp>
        <p:nvSpPr>
          <p:cNvPr id="23" name="Shape 21"/>
          <p:cNvSpPr/>
          <p:nvPr/>
        </p:nvSpPr>
        <p:spPr>
          <a:xfrm>
            <a:off x="7114032" y="1097280"/>
            <a:ext cx="1572768" cy="3429000"/>
          </a:xfrm>
          <a:prstGeom prst="roundRect">
            <a:avLst>
              <a:gd name="adj" fmla="val 4651"/>
            </a:avLst>
          </a:prstGeom>
          <a:solidFill>
            <a:srgbClr val="E8EFFA"/>
          </a:solidFill>
          <a:ln w="12700">
            <a:solidFill>
              <a:srgbClr val="E8EFFA"/>
            </a:solidFill>
            <a:prstDash val="solid"/>
          </a:ln>
        </p:spPr>
      </p:sp>
      <p:sp>
        <p:nvSpPr>
          <p:cNvPr id="24" name="Shape 22"/>
          <p:cNvSpPr/>
          <p:nvPr/>
        </p:nvSpPr>
        <p:spPr>
          <a:xfrm>
            <a:off x="7223760" y="1234440"/>
            <a:ext cx="365760" cy="365760"/>
          </a:xfrm>
          <a:prstGeom prst="ellipse">
            <a:avLst/>
          </a:prstGeom>
          <a:solidFill>
            <a:srgbClr val="1F5FBF"/>
          </a:solidFill>
          <a:ln w="12700">
            <a:solidFill>
              <a:srgbClr val="1F5FBF"/>
            </a:solidFill>
            <a:prstDash val="solid"/>
          </a:ln>
        </p:spPr>
      </p:sp>
      <p:sp>
        <p:nvSpPr>
          <p:cNvPr id="25" name="Text 23"/>
          <p:cNvSpPr txBox="1"/>
          <p:nvPr/>
        </p:nvSpPr>
        <p:spPr>
          <a:xfrm>
            <a:off x="7223760" y="12344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6" name="Text 24"/>
          <p:cNvSpPr txBox="1"/>
          <p:nvPr/>
        </p:nvSpPr>
        <p:spPr>
          <a:xfrm>
            <a:off x="7205472" y="1691640"/>
            <a:ext cx="1389888" cy="365760"/>
          </a:xfrm>
          <a:prstGeom prst="rect">
            <a:avLst/>
          </a:prstGeom>
          <a:noFill/>
          <a:ln/>
        </p:spPr>
        <p:txBody>
          <a:bodyPr wrap="square" lIns="0" tIns="0" rIns="0" bIns="0" rtlCol="0" anchor="ctr"/>
          <a:lstStyle/>
          <a:p>
            <a:pPr indent="0" marL="0">
              <a:buNone/>
            </a:pPr>
            <a:r>
              <a:rPr lang="en-US" sz="1100" b="1" dirty="0">
                <a:solidFill>
                  <a:srgbClr val="1F5FBF"/>
                </a:solidFill>
                <a:latin typeface="Calibri" pitchFamily="34" charset="0"/>
                <a:ea typeface="Calibri" pitchFamily="34" charset="-122"/>
                <a:cs typeface="Calibri" pitchFamily="34" charset="-120"/>
              </a:rPr>
              <a:t>Anniversary giveback</a:t>
            </a:r>
            <a:endParaRPr lang="en-US" sz="1100" dirty="0"/>
          </a:p>
        </p:txBody>
      </p:sp>
      <p:sp>
        <p:nvSpPr>
          <p:cNvPr id="27" name="Text 25"/>
          <p:cNvSpPr txBox="1"/>
          <p:nvPr/>
        </p:nvSpPr>
        <p:spPr>
          <a:xfrm>
            <a:off x="7159752" y="2057400"/>
            <a:ext cx="1481328" cy="2377440"/>
          </a:xfrm>
          <a:prstGeom prst="rect">
            <a:avLst/>
          </a:prstGeom>
          <a:noFill/>
          <a:ln/>
        </p:spPr>
        <p:txBody>
          <a:bodyPr wrap="square" lIns="635" tIns="635" rIns="635" bIns="635" rtlCol="0" anchor="t"/>
          <a:lstStyle/>
          <a:p>
            <a:pPr indent="0" marL="0">
              <a:buNone/>
            </a:pPr>
            <a:r>
              <a:rPr lang="en-US" sz="950" dirty="0">
                <a:solidFill>
                  <a:srgbClr val="1B1B1B"/>
                </a:solidFill>
                <a:latin typeface="Calibri" pitchFamily="34" charset="0"/>
                <a:ea typeface="Calibri" pitchFamily="34" charset="-122"/>
                <a:cs typeface="Calibri" pitchFamily="34" charset="-120"/>
              </a:rPr>
              <a:t>Budget 2027 on trend, not 2026. Disneyland gave back 1.8 percent; Indy waited nine years for its next sellout.</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0B2545"/>
                </a:solidFill>
                <a:latin typeface="Cambria" pitchFamily="34" charset="0"/>
                <a:ea typeface="Cambria" pitchFamily="34" charset="-122"/>
                <a:cs typeface="Cambria" pitchFamily="34" charset="-120"/>
              </a:rPr>
              <a:t>Appendix A. Assumption register and sources (Part 1)</a:t>
            </a:r>
            <a:endParaRPr lang="en-US" sz="2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6858000" cy="914400"/>
        </p:xfrm>
        <a:graphic>
          <a:graphicData uri="http://schemas.openxmlformats.org/drawingml/2006/table">
            <a:tbl>
              <a:tblPr/>
              <a:tblGrid>
                <a:gridCol w="1920240"/>
                <a:gridCol w="1234440"/>
                <a:gridCol w="1371600"/>
                <a:gridCol w="3703320"/>
              </a:tblGrid>
              <a:tr h="0">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Input</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Value used</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Range</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Source</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0B2545"/>
                    </a:solidFill>
                  </a:tcPr>
                </a:tc>
              </a:tr>
              <a:tr h="0">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Organic baseline</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58,600</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53,857 to 60,343 (80% PI)</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Five methods on 2021 to 2025 actuals, weighted to the recent regime</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Advertising elasticity</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0.12 short, 0.24 long</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n/a</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Sethuraman, Tellis and Briesch, Journal of Marketing Research 2011</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Campaign awareness, new ring</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15 to 35%</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Longwoods and SMARI: Washington 36%, New Mexico 44%, North Dakota 47% at higher per capita spend</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Conversion among aware</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1.7%</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1.3 to 2.5%</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Washington 77,000 trips from 2.4M aware households; Wyoming intent 7% to 14% (Longwoods)</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Historical origin split</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70 / 25 / 5</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outer 15 to 35%</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Bolton Food and Drink Festival 72% local; Big Sur Food and Wine 70% Monterey County</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Distance weight, outer ring</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0.25</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0.14 to 0.4</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Esri Huff model documentation, exponent 1.5 to 2.0</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Bass p and q</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0.03, 0.38</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p up to 0.10 with heavy ads</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Sultan, Farley and Lehmann, JMR 1990, 213 parameter sets</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Anniversary lift</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3.5%</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1 to 7%</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TEA/AECOM Theme Index (Disneyland), Amusement Business 2005, Morning Call (Musikfest), Indy 500 sellout history</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Macro net effect</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-0.8%</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−2 to +1.5%</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UMich Sept 2026; AAA Sept 2026; Hughes, Knittel, Sperling 2008; NBC News 2009; Star Tribune 2025</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Saturday share of weekend</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55%</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52 to 58%</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Minnesota State Fair daily attendance 2022 to 2024</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Weather multiplier</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0.90 to 1.02</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mode 1.00</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Minnesota 2024 rain day 81,231 versus about 135,000 normal</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Listener to guest conversion (free)</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4 to 18%</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insights.live 1 to 3% paid metro conversion; Orphiq 2% working estimate; super listeners 2% drive 50%</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Streaming shares</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Apple = 0.35 x Spotify</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0.25 to 0.45</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Digital Music News Aug 2025; DemandSage; Spotify 751M MAU vs 290M paid</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r h="0">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Free event no shows</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40 to 60%</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n/a</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c>
                  <a:txBody>
                    <a:bodyPr/>
                    <a:lstStyle/>
                    <a:p>
                      <a:pPr indent="0" marL="0">
                        <a:buNone/>
                      </a:pPr>
                      <a:r>
                        <a:rPr lang="en-US" sz="750" dirty="0">
                          <a:solidFill>
                            <a:srgbClr val="1B1B1B"/>
                          </a:solidFill>
                          <a:latin typeface="Calibri" pitchFamily="34" charset="0"/>
                          <a:ea typeface="Calibri" pitchFamily="34" charset="-122"/>
                          <a:cs typeface="Calibri" pitchFamily="34" charset="-120"/>
                        </a:rPr>
                        <a:t>VenueSight via eventcloud; Eventbrite up to 50%</a:t>
                      </a:r>
                      <a:endParaRPr lang="en-US" sz="750" dirty="0">
                        <a:latin typeface="Calibri" charset="0"/>
                        <a:ea typeface="Calibri" charset="0"/>
                        <a:cs typeface="Calibri" charset="0"/>
                      </a:endParaRPr>
                    </a:p>
                  </a:txBody>
                  <a:tcPr marL="36576" marR="36576" marT="36576" marB="36576"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0B2545"/>
                </a:solidFill>
                <a:latin typeface="Cambria" pitchFamily="34" charset="0"/>
                <a:ea typeface="Cambria" pitchFamily="34" charset="-122"/>
                <a:cs typeface="Cambria" pitchFamily="34" charset="-120"/>
              </a:rPr>
              <a:t>Appendix B. Assumptions behind Parts 2 and 3</a:t>
            </a:r>
            <a:endParaRPr lang="en-US" sz="2400" dirty="0"/>
          </a:p>
        </p:txBody>
      </p:sp>
      <p:sp>
        <p:nvSpPr>
          <p:cNvPr id="3" name="Shape 1"/>
          <p:cNvSpPr/>
          <p:nvPr/>
        </p:nvSpPr>
        <p:spPr>
          <a:xfrm>
            <a:off x="457200" y="1005840"/>
            <a:ext cx="3977640" cy="3611880"/>
          </a:xfrm>
          <a:prstGeom prst="roundRect">
            <a:avLst>
              <a:gd name="adj" fmla="val 2025"/>
            </a:avLst>
          </a:prstGeom>
          <a:solidFill>
            <a:srgbClr val="E8EFFA"/>
          </a:solidFill>
          <a:ln w="12700">
            <a:solidFill>
              <a:srgbClr val="E8EFFA"/>
            </a:solidFill>
            <a:prstDash val="solid"/>
          </a:ln>
        </p:spPr>
      </p:sp>
      <p:sp>
        <p:nvSpPr>
          <p:cNvPr id="4" name="Text 2"/>
          <p:cNvSpPr txBox="1"/>
          <p:nvPr/>
        </p:nvSpPr>
        <p:spPr>
          <a:xfrm>
            <a:off x="594360" y="1097280"/>
            <a:ext cx="3657600" cy="274320"/>
          </a:xfrm>
          <a:prstGeom prst="rect">
            <a:avLst/>
          </a:prstGeom>
          <a:noFill/>
          <a:ln/>
        </p:spPr>
        <p:txBody>
          <a:bodyPr wrap="square" lIns="0" tIns="0" rIns="0" bIns="0" rtlCol="0" anchor="ctr"/>
          <a:lstStyle/>
          <a:p>
            <a:pPr indent="0" marL="0">
              <a:buNone/>
            </a:pPr>
            <a:r>
              <a:rPr lang="en-US" sz="1150" b="1" dirty="0">
                <a:solidFill>
                  <a:srgbClr val="1F5FBF"/>
                </a:solidFill>
                <a:latin typeface="Calibri" pitchFamily="34" charset="0"/>
                <a:ea typeface="Calibri" pitchFamily="34" charset="-122"/>
                <a:cs typeface="Calibri" pitchFamily="34" charset="-120"/>
              </a:rPr>
              <a:t>Part 2 booth model</a:t>
            </a:r>
            <a:endParaRPr lang="en-US" sz="1150" dirty="0"/>
          </a:p>
        </p:txBody>
      </p:sp>
      <p:sp>
        <p:nvSpPr>
          <p:cNvPr id="5" name="Text 3"/>
          <p:cNvSpPr txBox="1"/>
          <p:nvPr/>
        </p:nvSpPr>
        <p:spPr>
          <a:xfrm>
            <a:off x="548640" y="1417320"/>
            <a:ext cx="3794760" cy="3154680"/>
          </a:xfrm>
          <a:prstGeom prst="rect">
            <a:avLst/>
          </a:prstGeom>
          <a:noFill/>
          <a:ln/>
        </p:spPr>
        <p:txBody>
          <a:bodyPr wrap="square" lIns="635" tIns="635" rIns="635" bIns="635" rtlCol="0" anchor="t"/>
          <a:lstStyle/>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Design day 10,100 (Weekend 3 Saturday P50). Season 62,100. Real spend per guest x 0.96.</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Transactions per participating guest: food 1.6, merchandise 1.1, activities 1.3. Peak hour factor 18% food, 15% others.</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Service: food booth two points at 2.5 min each (48/hr), merchandise one point at 3 min (20/hr), activity booth 60 guests/hr (OHRC).</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Wait targets at peak: 10 min food, 5 min merchandise, 15 min activities. Erlang C floors 48, 28, 14.</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Capture curve 1 minus exp(minus n / n0), n0 set so capture is 85% at the queue floor.</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Organizer economics per season: fees $2,000 / $900 / $700, revenue share 12 / 10 / 8%, organizer cost $900 / $500 / $600. Vendor floors $18,000 / $5,000 / $4,000.</a:t>
            </a:r>
            <a:endParaRPr lang="en-US" sz="950" dirty="0"/>
          </a:p>
        </p:txBody>
      </p:sp>
      <p:sp>
        <p:nvSpPr>
          <p:cNvPr id="6" name="Shape 4"/>
          <p:cNvSpPr/>
          <p:nvPr/>
        </p:nvSpPr>
        <p:spPr>
          <a:xfrm>
            <a:off x="4709160" y="1005840"/>
            <a:ext cx="3977640" cy="3611880"/>
          </a:xfrm>
          <a:prstGeom prst="roundRect">
            <a:avLst>
              <a:gd name="adj" fmla="val 2025"/>
            </a:avLst>
          </a:prstGeom>
          <a:solidFill>
            <a:srgbClr val="E8EFFA"/>
          </a:solidFill>
          <a:ln w="12700">
            <a:solidFill>
              <a:srgbClr val="E8EFFA"/>
            </a:solidFill>
            <a:prstDash val="solid"/>
          </a:ln>
        </p:spPr>
      </p:sp>
      <p:sp>
        <p:nvSpPr>
          <p:cNvPr id="7" name="Text 5"/>
          <p:cNvSpPr txBox="1"/>
          <p:nvPr/>
        </p:nvSpPr>
        <p:spPr>
          <a:xfrm>
            <a:off x="4846320" y="1097280"/>
            <a:ext cx="3657600" cy="274320"/>
          </a:xfrm>
          <a:prstGeom prst="rect">
            <a:avLst/>
          </a:prstGeom>
          <a:noFill/>
          <a:ln/>
        </p:spPr>
        <p:txBody>
          <a:bodyPr wrap="square" lIns="0" tIns="0" rIns="0" bIns="0" rtlCol="0" anchor="ctr"/>
          <a:lstStyle/>
          <a:p>
            <a:pPr indent="0" marL="0">
              <a:buNone/>
            </a:pPr>
            <a:r>
              <a:rPr lang="en-US" sz="1150" b="1" dirty="0">
                <a:solidFill>
                  <a:srgbClr val="1F5FBF"/>
                </a:solidFill>
                <a:latin typeface="Calibri" pitchFamily="34" charset="0"/>
                <a:ea typeface="Calibri" pitchFamily="34" charset="-122"/>
                <a:cs typeface="Calibri" pitchFamily="34" charset="-120"/>
              </a:rPr>
              <a:t>Part 3 option model</a:t>
            </a:r>
            <a:endParaRPr lang="en-US" sz="1150" dirty="0"/>
          </a:p>
        </p:txBody>
      </p:sp>
      <p:sp>
        <p:nvSpPr>
          <p:cNvPr id="8" name="Text 6"/>
          <p:cNvSpPr txBox="1"/>
          <p:nvPr/>
        </p:nvSpPr>
        <p:spPr>
          <a:xfrm>
            <a:off x="4800600" y="1417320"/>
            <a:ext cx="3794760" cy="3154680"/>
          </a:xfrm>
          <a:prstGeom prst="rect">
            <a:avLst/>
          </a:prstGeom>
          <a:noFill/>
          <a:ln/>
        </p:spPr>
        <p:txBody>
          <a:bodyPr wrap="square" lIns="635" tIns="635" rIns="635" bIns="635" rtlCol="0" anchor="t"/>
          <a:lstStyle/>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Organizer revenue per guest $17.46: admission $12, revenue share on spend after trade-down, parking $1.50.</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Labor 50 staff at $22/hr, escalated 4.6% for 2027. Operations $8,000 per added day. Extra site week $20,000. Lighting and security $2,500 per extended day. Launch marketing $8,000 to $10,000.</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Option A: the two added hours carry 7% of arrivals, 60% pulled forward from open hours.</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Option B: Friday at 45% of a Saturday (range 35 to 60), 35% shifted from the weekend.</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Option C: fifth weekend at 65% of an average weekend, 40% shifted.</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Capacity factor equals gross demand in the added hours divided by average demand per hour times hours added.</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Scorecard weights 35 / 30 / 20 / 15 for financial, guest experience, feasibility, risk.</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t"/>
          <a:lstStyle/>
          <a:p>
            <a:pPr indent="0" marL="0">
              <a:buNone/>
            </a:pPr>
            <a:r>
              <a:rPr lang="en-US" sz="2400" b="1" dirty="0">
                <a:solidFill>
                  <a:srgbClr val="0B2545"/>
                </a:solidFill>
                <a:latin typeface="Cambria" pitchFamily="34" charset="0"/>
                <a:ea typeface="Cambria" pitchFamily="34" charset="-122"/>
                <a:cs typeface="Cambria" pitchFamily="34" charset="-120"/>
              </a:rPr>
              <a:t>Appendix C. The workbook and the code</a:t>
            </a:r>
            <a:endParaRPr lang="en-US" sz="2400" dirty="0"/>
          </a:p>
        </p:txBody>
      </p:sp>
      <p:sp>
        <p:nvSpPr>
          <p:cNvPr id="3" name="Shape 1"/>
          <p:cNvSpPr/>
          <p:nvPr/>
        </p:nvSpPr>
        <p:spPr>
          <a:xfrm>
            <a:off x="457200" y="1005840"/>
            <a:ext cx="3977640" cy="3611880"/>
          </a:xfrm>
          <a:prstGeom prst="roundRect">
            <a:avLst>
              <a:gd name="adj" fmla="val 2025"/>
            </a:avLst>
          </a:prstGeom>
          <a:solidFill>
            <a:srgbClr val="E8EFFA"/>
          </a:solidFill>
          <a:ln w="12700">
            <a:solidFill>
              <a:srgbClr val="E8EFFA"/>
            </a:solidFill>
            <a:prstDash val="solid"/>
          </a:ln>
        </p:spPr>
      </p:sp>
      <p:sp>
        <p:nvSpPr>
          <p:cNvPr id="4" name="Text 2"/>
          <p:cNvSpPr txBox="1"/>
          <p:nvPr/>
        </p:nvSpPr>
        <p:spPr>
          <a:xfrm>
            <a:off x="594360" y="1097280"/>
            <a:ext cx="3749040" cy="274320"/>
          </a:xfrm>
          <a:prstGeom prst="rect">
            <a:avLst/>
          </a:prstGeom>
          <a:noFill/>
          <a:ln/>
        </p:spPr>
        <p:txBody>
          <a:bodyPr wrap="square" lIns="0" tIns="0" rIns="0" bIns="0" rtlCol="0" anchor="ctr"/>
          <a:lstStyle/>
          <a:p>
            <a:pPr indent="0" marL="0">
              <a:buNone/>
            </a:pPr>
            <a:r>
              <a:rPr lang="en-US" sz="1150" b="1" dirty="0">
                <a:solidFill>
                  <a:srgbClr val="1F5FBF"/>
                </a:solidFill>
                <a:latin typeface="Calibri" pitchFamily="34" charset="0"/>
                <a:ea typeface="Calibri" pitchFamily="34" charset="-122"/>
                <a:cs typeface="Calibri" pitchFamily="34" charset="-120"/>
              </a:rPr>
              <a:t>Excel workbook (WDPR_Festival_Model.xlsx)</a:t>
            </a:r>
            <a:endParaRPr lang="en-US" sz="1150" dirty="0"/>
          </a:p>
        </p:txBody>
      </p:sp>
      <p:sp>
        <p:nvSpPr>
          <p:cNvPr id="5" name="Text 3"/>
          <p:cNvSpPr txBox="1"/>
          <p:nvPr/>
        </p:nvSpPr>
        <p:spPr>
          <a:xfrm>
            <a:off x="548640" y="1417320"/>
            <a:ext cx="3794760" cy="3154680"/>
          </a:xfrm>
          <a:prstGeom prst="rect">
            <a:avLst/>
          </a:prstGeom>
          <a:noFill/>
          <a:ln/>
        </p:spPr>
        <p:txBody>
          <a:bodyPr wrap="square" lIns="635" tIns="635" rIns="635" bIns="635" rtlCol="0" anchor="t"/>
          <a:lstStyle/>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Blue cells are inputs with a source beside them; black cells are formulas; every derived number recalculates from the Inputs sheet.</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Sheets follow the deck: Sources, Inputs, Baseline, Capture, Reach, Anniversary, Concert, Macro, Bridge, Sensitivity, Weekends, Part2 (with an ErlangC helper), Part3.</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Regressions use FORECAST, SLOPE and STEYX on the case data; Holt smoothing is a two-column recursion; Erlang C waits are computed per booth count.</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Monte Carlo percentiles are pasted from the code and labeled as such; everything else is live.</a:t>
            </a:r>
            <a:endParaRPr lang="en-US" sz="950" dirty="0"/>
          </a:p>
        </p:txBody>
      </p:sp>
      <p:sp>
        <p:nvSpPr>
          <p:cNvPr id="6" name="Shape 4"/>
          <p:cNvSpPr/>
          <p:nvPr/>
        </p:nvSpPr>
        <p:spPr>
          <a:xfrm>
            <a:off x="4709160" y="1005840"/>
            <a:ext cx="3977640" cy="3611880"/>
          </a:xfrm>
          <a:prstGeom prst="roundRect">
            <a:avLst>
              <a:gd name="adj" fmla="val 2025"/>
            </a:avLst>
          </a:prstGeom>
          <a:solidFill>
            <a:srgbClr val="E8EFFA"/>
          </a:solidFill>
          <a:ln w="12700">
            <a:solidFill>
              <a:srgbClr val="E8EFFA"/>
            </a:solidFill>
            <a:prstDash val="solid"/>
          </a:ln>
        </p:spPr>
      </p:sp>
      <p:sp>
        <p:nvSpPr>
          <p:cNvPr id="7" name="Text 5"/>
          <p:cNvSpPr txBox="1"/>
          <p:nvPr/>
        </p:nvSpPr>
        <p:spPr>
          <a:xfrm>
            <a:off x="4846320" y="1097280"/>
            <a:ext cx="3749040" cy="274320"/>
          </a:xfrm>
          <a:prstGeom prst="rect">
            <a:avLst/>
          </a:prstGeom>
          <a:noFill/>
          <a:ln/>
        </p:spPr>
        <p:txBody>
          <a:bodyPr wrap="square" lIns="0" tIns="0" rIns="0" bIns="0" rtlCol="0" anchor="ctr"/>
          <a:lstStyle/>
          <a:p>
            <a:pPr indent="0" marL="0">
              <a:buNone/>
            </a:pPr>
            <a:r>
              <a:rPr lang="en-US" sz="1150" b="1" dirty="0">
                <a:solidFill>
                  <a:srgbClr val="1F5FBF"/>
                </a:solidFill>
                <a:latin typeface="Calibri" pitchFamily="34" charset="0"/>
                <a:ea typeface="Calibri" pitchFamily="34" charset="-122"/>
                <a:cs typeface="Calibri" pitchFamily="34" charset="-120"/>
              </a:rPr>
              <a:t>GitHub: NathanielKung/disney-festival-ie-case</a:t>
            </a:r>
            <a:endParaRPr lang="en-US" sz="1150" dirty="0"/>
          </a:p>
        </p:txBody>
      </p:sp>
      <p:sp>
        <p:nvSpPr>
          <p:cNvPr id="8" name="Text 6"/>
          <p:cNvSpPr txBox="1"/>
          <p:nvPr/>
        </p:nvSpPr>
        <p:spPr>
          <a:xfrm>
            <a:off x="4800600" y="1417320"/>
            <a:ext cx="3794760" cy="3154680"/>
          </a:xfrm>
          <a:prstGeom prst="rect">
            <a:avLst/>
          </a:prstGeom>
          <a:noFill/>
          <a:ln/>
        </p:spPr>
        <p:txBody>
          <a:bodyPr wrap="square" lIns="635" tIns="635" rIns="635" bIns="635" rtlCol="0" anchor="t"/>
          <a:lstStyle/>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data/: case actuals, case parameters, and every research anchor with its URL.</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src/festival/: baseline (five trend methods, holdout, prediction interval), capture, reach, concert, anniversary, macro, simulate (100,000 draw Monte Carlo and tornado), booths (Erlang C and mix search), options.</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tests/: 18 pytest checks, including Erlang C reducing to M/M/1, the capture model reproducing observed rates, and the option ranking.</a:t>
            </a:r>
            <a:endParaRPr lang="en-US" sz="950" dirty="0"/>
          </a:p>
          <a:p>
            <a:pPr marL="152400" indent="-152400">
              <a:spcAft>
                <a:spcPts val="500"/>
              </a:spcAft>
              <a:buSzPct val="100000"/>
              <a:buChar char="•"/>
            </a:pPr>
            <a:r>
              <a:rPr lang="en-US" sz="950" dirty="0">
                <a:solidFill>
                  <a:srgbClr val="1B1B1B"/>
                </a:solidFill>
                <a:latin typeface="Calibri" pitchFamily="34" charset="0"/>
                <a:ea typeface="Calibri" pitchFamily="34" charset="-122"/>
                <a:cs typeface="Calibri" pitchFamily="34" charset="-120"/>
              </a:rPr>
              <a:t>scripts/run_all.py writes outputs/results.json; scripts/build_workbook.py writes the Excel; deck/build_deck.js writes this deck from results.json.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Autumn Harvest Festival, 25th Anniversary Season</dc:title>
  <dc:subject>PptxGenJS Presentation</dc:subject>
  <dc:creator>PptxGenJS</dc:creator>
  <cp:lastModifiedBy>PptxGenJS</cp:lastModifiedBy>
  <cp:revision>1</cp:revision>
  <dcterms:created xsi:type="dcterms:W3CDTF">2026-09-26T05:59:25Z</dcterms:created>
  <dcterms:modified xsi:type="dcterms:W3CDTF">2026-09-26T05:59:25Z</dcterms:modified>
</cp:coreProperties>
</file>